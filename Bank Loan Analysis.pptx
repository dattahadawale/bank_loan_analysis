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56" r:id="rId2"/>
    <p:sldId id="278" r:id="rId3"/>
    <p:sldId id="270" r:id="rId4"/>
    <p:sldId id="271" r:id="rId5"/>
    <p:sldId id="272" r:id="rId6"/>
    <p:sldId id="273" r:id="rId7"/>
    <p:sldId id="275" r:id="rId8"/>
    <p:sldId id="277" r:id="rId9"/>
    <p:sldId id="276" r:id="rId10"/>
    <p:sldId id="258" r:id="rId11"/>
    <p:sldId id="279" r:id="rId12"/>
    <p:sldId id="261" r:id="rId13"/>
    <p:sldId id="266" r:id="rId14"/>
    <p:sldId id="267" r:id="rId15"/>
    <p:sldId id="274" r:id="rId16"/>
    <p:sldId id="262" r:id="rId17"/>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p:cViewPr varScale="1">
        <p:scale>
          <a:sx n="79" d="100"/>
          <a:sy n="79" d="100"/>
        </p:scale>
        <p:origin x="86" y="432"/>
      </p:cViewPr>
      <p:guideLst>
        <p:guide pos="3839"/>
        <p:guide orient="horz" pos="2160"/>
      </p:guideLst>
    </p:cSldViewPr>
  </p:slideViewPr>
  <p:notesTextViewPr>
    <p:cViewPr>
      <p:scale>
        <a:sx n="1" d="1"/>
        <a:sy n="1" d="1"/>
      </p:scale>
      <p:origin x="0" y="0"/>
    </p:cViewPr>
  </p:notesTextViewPr>
  <p:notesViewPr>
    <p:cSldViewPr showGuides="1">
      <p:cViewPr varScale="1">
        <p:scale>
          <a:sx n="63" d="100"/>
          <a:sy n="63" d="100"/>
        </p:scale>
        <p:origin x="1986"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dLbls>
          <c:showLegendKey val="0"/>
          <c:showVal val="0"/>
          <c:showCatName val="0"/>
          <c:showSerName val="0"/>
          <c:showPercent val="0"/>
          <c:showBubbleSize val="0"/>
        </c:dLbls>
        <c:marker val="1"/>
        <c:smooth val="0"/>
        <c:axId val="611346592"/>
        <c:axId val="611350120"/>
      </c:lineChart>
      <c:catAx>
        <c:axId val="611346592"/>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611350120"/>
        <c:crosses val="autoZero"/>
        <c:auto val="1"/>
        <c:lblAlgn val="ctr"/>
        <c:lblOffset val="100"/>
        <c:noMultiLvlLbl val="0"/>
      </c:catAx>
      <c:valAx>
        <c:axId val="611350120"/>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611346592"/>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26">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dk1">
            <a:lumMod val="75000"/>
            <a:lumOff val="25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dk1">
            <a:lumMod val="75000"/>
            <a:lumOff val="25000"/>
          </a:schemeClr>
        </a:solidFill>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119837-5B71-4D44-BB01-DB0B084933C8}" type="doc">
      <dgm:prSet loTypeId="urn:microsoft.com/office/officeart/2005/8/layout/vList2" loCatId="list" qsTypeId="urn:microsoft.com/office/officeart/2005/8/quickstyle/simple4" qsCatId="simple" csTypeId="urn:microsoft.com/office/officeart/2005/8/colors/colorful1" csCatId="colorful" phldr="1"/>
      <dgm:spPr/>
      <dgm:t>
        <a:bodyPr/>
        <a:lstStyle/>
        <a:p>
          <a:endParaRPr lang="en-US"/>
        </a:p>
      </dgm:t>
    </dgm:pt>
    <dgm:pt modelId="{C111C18A-FD96-4E63-821A-54D70D8DC65F}">
      <dgm:prSet phldrT="[Text]"/>
      <dgm:spPr/>
      <dgm:t>
        <a:bodyPr/>
        <a:lstStyle/>
        <a:p>
          <a:r>
            <a:rPr lang="en-US" dirty="0"/>
            <a:t>Summary</a:t>
          </a:r>
        </a:p>
      </dgm:t>
      <dgm:extLst>
        <a:ext uri="{E40237B7-FDA0-4F09-8148-C483321AD2D9}">
          <dgm14:cNvPr xmlns:dgm14="http://schemas.microsoft.com/office/drawing/2010/diagram" id="0" name="" title="Group A heading"/>
        </a:ext>
      </dgm:extLst>
    </dgm:pt>
    <dgm:pt modelId="{83BE74EF-FAB4-45A2-BBED-7CD5259AB210}" type="parTrans" cxnId="{FFD8B471-C98F-4DB5-8DE3-2AB7E896ADD5}">
      <dgm:prSet/>
      <dgm:spPr/>
      <dgm:t>
        <a:bodyPr/>
        <a:lstStyle/>
        <a:p>
          <a:endParaRPr lang="en-US"/>
        </a:p>
      </dgm:t>
    </dgm:pt>
    <dgm:pt modelId="{B4F34DE2-2DAE-4F88-8C78-BD8892EBF4FF}" type="sibTrans" cxnId="{FFD8B471-C98F-4DB5-8DE3-2AB7E896ADD5}">
      <dgm:prSet/>
      <dgm:spPr/>
      <dgm:t>
        <a:bodyPr/>
        <a:lstStyle/>
        <a:p>
          <a:endParaRPr lang="en-US"/>
        </a:p>
      </dgm:t>
    </dgm:pt>
    <dgm:pt modelId="{3C67E77D-62FA-499D-B5E6-E79A091C5267}">
      <dgm:prSet phldrT="[Text]"/>
      <dgm:spPr/>
      <dgm:t>
        <a:bodyPr/>
        <a:lstStyle/>
        <a:p>
          <a:r>
            <a:rPr lang="en-US" dirty="0"/>
            <a:t>Overviews</a:t>
          </a:r>
        </a:p>
      </dgm:t>
      <dgm:extLst>
        <a:ext uri="{E40237B7-FDA0-4F09-8148-C483321AD2D9}">
          <dgm14:cNvPr xmlns:dgm14="http://schemas.microsoft.com/office/drawing/2010/diagram" id="0" name="" title="Group B heading"/>
        </a:ext>
      </dgm:extLst>
    </dgm:pt>
    <dgm:pt modelId="{5337D229-E330-4525-B0FA-14EC5A80604A}" type="parTrans" cxnId="{32AA6160-4426-4C4D-93AE-E2F474E37AD9}">
      <dgm:prSet/>
      <dgm:spPr/>
      <dgm:t>
        <a:bodyPr/>
        <a:lstStyle/>
        <a:p>
          <a:endParaRPr lang="en-US"/>
        </a:p>
      </dgm:t>
    </dgm:pt>
    <dgm:pt modelId="{C056AC5D-B04E-4376-A1CB-3EAB7BE5AF5B}" type="sibTrans" cxnId="{32AA6160-4426-4C4D-93AE-E2F474E37AD9}">
      <dgm:prSet/>
      <dgm:spPr/>
      <dgm:t>
        <a:bodyPr/>
        <a:lstStyle/>
        <a:p>
          <a:endParaRPr lang="en-US"/>
        </a:p>
      </dgm:t>
    </dgm:pt>
    <dgm:pt modelId="{D6510970-8F9C-4B45-A0F3-6ACB9AA76D40}">
      <dgm:prSet phldrT="[Text]" custT="1"/>
      <dgm:spPr/>
      <dgm:t>
        <a:bodyPr/>
        <a:lstStyle/>
        <a:p>
          <a:pPr>
            <a:buFont typeface="Arial" panose="020B0604020202020204" pitchFamily="34" charset="0"/>
            <a:buChar char="•"/>
          </a:pPr>
          <a:r>
            <a:rPr lang="en-IN" sz="1800" i="1" dirty="0">
              <a:latin typeface="Arial" panose="020B0604020202020204" pitchFamily="34" charset="0"/>
              <a:cs typeface="Arial" panose="020B0604020202020204" pitchFamily="34" charset="0"/>
            </a:rPr>
            <a:t>Loan Applications by Month and State</a:t>
          </a:r>
          <a:endParaRPr lang="en-US" sz="1800" i="1" dirty="0">
            <a:latin typeface="Arial" panose="020B0604020202020204" pitchFamily="34" charset="0"/>
            <a:cs typeface="Arial" panose="020B0604020202020204" pitchFamily="34" charset="0"/>
          </a:endParaRPr>
        </a:p>
      </dgm:t>
      <dgm:extLst>
        <a:ext uri="{E40237B7-FDA0-4F09-8148-C483321AD2D9}">
          <dgm14:cNvPr xmlns:dgm14="http://schemas.microsoft.com/office/drawing/2010/diagram" id="0" name="" title="Group B tasks"/>
        </a:ext>
      </dgm:extLst>
    </dgm:pt>
    <dgm:pt modelId="{7A9FC291-2B6A-4475-8B09-917F9F09E3AB}" type="parTrans" cxnId="{C6E7222A-5F84-456A-9806-D51868FAF8A9}">
      <dgm:prSet/>
      <dgm:spPr/>
      <dgm:t>
        <a:bodyPr/>
        <a:lstStyle/>
        <a:p>
          <a:endParaRPr lang="en-US"/>
        </a:p>
      </dgm:t>
    </dgm:pt>
    <dgm:pt modelId="{4B87F32C-3630-48F2-9114-4262C0BEEA9E}" type="sibTrans" cxnId="{C6E7222A-5F84-456A-9806-D51868FAF8A9}">
      <dgm:prSet/>
      <dgm:spPr/>
      <dgm:t>
        <a:bodyPr/>
        <a:lstStyle/>
        <a:p>
          <a:endParaRPr lang="en-US"/>
        </a:p>
      </dgm:t>
    </dgm:pt>
    <dgm:pt modelId="{709ED9DC-E391-4C6C-B788-93F1C2EFB6FD}">
      <dgm:prSet phldrT="[Text]" custT="1"/>
      <dgm:spPr/>
      <dgm:t>
        <a:bodyPr/>
        <a:lstStyle/>
        <a:p>
          <a:pPr>
            <a:buFont typeface="Arial" panose="020B0604020202020204" pitchFamily="34" charset="0"/>
            <a:buChar char="•"/>
          </a:pPr>
          <a:r>
            <a:rPr lang="en-IN" sz="1800" i="1" dirty="0">
              <a:latin typeface="Arial" panose="020B0604020202020204" pitchFamily="34" charset="0"/>
              <a:cs typeface="Arial" panose="020B0604020202020204" pitchFamily="34" charset="0"/>
            </a:rPr>
            <a:t>Analysis by Term, Purpose, and Home Ownership</a:t>
          </a:r>
          <a:endParaRPr lang="en-US" sz="1800" i="1" dirty="0">
            <a:latin typeface="Arial" panose="020B0604020202020204" pitchFamily="34" charset="0"/>
            <a:cs typeface="Arial" panose="020B0604020202020204" pitchFamily="34" charset="0"/>
          </a:endParaRPr>
        </a:p>
      </dgm:t>
    </dgm:pt>
    <dgm:pt modelId="{B5FA6CF0-E0A0-46A0-93C9-B722B31A8A9C}" type="parTrans" cxnId="{78E3C3B3-FD19-41A6-A9CC-BB3375A6FF81}">
      <dgm:prSet/>
      <dgm:spPr/>
      <dgm:t>
        <a:bodyPr/>
        <a:lstStyle/>
        <a:p>
          <a:endParaRPr lang="en-US"/>
        </a:p>
      </dgm:t>
    </dgm:pt>
    <dgm:pt modelId="{F3C03C29-D7FF-4D61-8D75-8B75B2F589EC}" type="sibTrans" cxnId="{78E3C3B3-FD19-41A6-A9CC-BB3375A6FF81}">
      <dgm:prSet/>
      <dgm:spPr/>
      <dgm:t>
        <a:bodyPr/>
        <a:lstStyle/>
        <a:p>
          <a:endParaRPr lang="en-US"/>
        </a:p>
      </dgm:t>
    </dgm:pt>
    <dgm:pt modelId="{CC6B7442-0B72-4EF2-9F13-1325B51AFF9F}">
      <dgm:prSet phldrT="[Text]"/>
      <dgm:spPr/>
      <dgm:t>
        <a:bodyPr/>
        <a:lstStyle/>
        <a:p>
          <a:r>
            <a:rPr lang="en-US" dirty="0"/>
            <a:t>Details </a:t>
          </a:r>
        </a:p>
      </dgm:t>
      <dgm:extLst>
        <a:ext uri="{E40237B7-FDA0-4F09-8148-C483321AD2D9}">
          <dgm14:cNvPr xmlns:dgm14="http://schemas.microsoft.com/office/drawing/2010/diagram" id="0" name="" title="Group C heading"/>
        </a:ext>
      </dgm:extLst>
    </dgm:pt>
    <dgm:pt modelId="{E3D139E0-5DC2-4F8E-9F8F-B3F0EBCD4689}" type="parTrans" cxnId="{102D6D4D-90C9-40F4-A001-35DCC329B127}">
      <dgm:prSet/>
      <dgm:spPr/>
      <dgm:t>
        <a:bodyPr/>
        <a:lstStyle/>
        <a:p>
          <a:endParaRPr lang="en-US"/>
        </a:p>
      </dgm:t>
    </dgm:pt>
    <dgm:pt modelId="{FF80E1BA-0D6F-4EE8-9640-892A5897DBCD}" type="sibTrans" cxnId="{102D6D4D-90C9-40F4-A001-35DCC329B127}">
      <dgm:prSet/>
      <dgm:spPr/>
      <dgm:t>
        <a:bodyPr/>
        <a:lstStyle/>
        <a:p>
          <a:endParaRPr lang="en-US"/>
        </a:p>
      </dgm:t>
    </dgm:pt>
    <dgm:pt modelId="{FE0A3CAE-D039-42F2-AF12-1E6F6793A633}">
      <dgm:prSet phldrT="[Text]" custT="1"/>
      <dgm:spPr/>
      <dgm:t>
        <a:bodyPr/>
        <a:lstStyle/>
        <a:p>
          <a:pPr>
            <a:buFont typeface="Arial" panose="020B0604020202020204" pitchFamily="34" charset="0"/>
            <a:buChar char="•"/>
          </a:pPr>
          <a:r>
            <a:rPr lang="en-IN" sz="1800" i="1" dirty="0">
              <a:latin typeface="Arial" panose="020B0604020202020204" pitchFamily="34" charset="0"/>
              <a:cs typeface="Arial" panose="020B0604020202020204" pitchFamily="34" charset="0"/>
            </a:rPr>
            <a:t>Loan Application Records</a:t>
          </a:r>
          <a:endParaRPr lang="en-US" sz="1800" i="1" dirty="0">
            <a:latin typeface="Arial" panose="020B0604020202020204" pitchFamily="34" charset="0"/>
            <a:cs typeface="Arial" panose="020B0604020202020204" pitchFamily="34" charset="0"/>
          </a:endParaRPr>
        </a:p>
      </dgm:t>
      <dgm:extLst>
        <a:ext uri="{E40237B7-FDA0-4F09-8148-C483321AD2D9}">
          <dgm14:cNvPr xmlns:dgm14="http://schemas.microsoft.com/office/drawing/2010/diagram" id="0" name="" title="Group C tasks"/>
        </a:ext>
      </dgm:extLst>
    </dgm:pt>
    <dgm:pt modelId="{7E2ED2D1-AFF4-4DED-BB53-30A310825CE2}" type="parTrans" cxnId="{A6FB3C49-AB75-4315-BB6B-886AA454F16F}">
      <dgm:prSet/>
      <dgm:spPr/>
      <dgm:t>
        <a:bodyPr/>
        <a:lstStyle/>
        <a:p>
          <a:endParaRPr lang="en-US"/>
        </a:p>
      </dgm:t>
    </dgm:pt>
    <dgm:pt modelId="{417BDEF2-191B-4000-BDE8-D3D22A51FCF3}" type="sibTrans" cxnId="{A6FB3C49-AB75-4315-BB6B-886AA454F16F}">
      <dgm:prSet/>
      <dgm:spPr/>
      <dgm:t>
        <a:bodyPr/>
        <a:lstStyle/>
        <a:p>
          <a:endParaRPr lang="en-US"/>
        </a:p>
      </dgm:t>
    </dgm:pt>
    <dgm:pt modelId="{71D67D5D-013C-4885-A61E-A3F99D7C7108}">
      <dgm:prSet phldrT="[Text]" custT="1"/>
      <dgm:spPr/>
      <dgm:t>
        <a:bodyPr/>
        <a:lstStyle/>
        <a:p>
          <a:pPr>
            <a:buFont typeface="Arial" panose="020B0604020202020204" pitchFamily="34" charset="0"/>
            <a:buChar char="•"/>
          </a:pPr>
          <a:r>
            <a:rPr lang="en-IN" sz="1800" i="1" dirty="0">
              <a:latin typeface="Arial" panose="020B0604020202020204" pitchFamily="34" charset="0"/>
              <a:cs typeface="Arial" panose="020B0604020202020204" pitchFamily="34" charset="0"/>
            </a:rPr>
            <a:t>Good Loan vs. Bad Loan Analysis</a:t>
          </a:r>
          <a:endParaRPr lang="en-US" sz="1800" i="1" dirty="0">
            <a:latin typeface="Arial" panose="020B0604020202020204" pitchFamily="34" charset="0"/>
            <a:cs typeface="Arial" panose="020B0604020202020204" pitchFamily="34" charset="0"/>
          </a:endParaRPr>
        </a:p>
      </dgm:t>
      <dgm:extLst>
        <a:ext uri="{E40237B7-FDA0-4F09-8148-C483321AD2D9}">
          <dgm14:cNvPr xmlns:dgm14="http://schemas.microsoft.com/office/drawing/2010/diagram" id="0" name="" title="Group A tasks"/>
        </a:ext>
      </dgm:extLst>
    </dgm:pt>
    <dgm:pt modelId="{13FD8B77-EC9C-4F7D-85F3-A7191A755A86}" type="parTrans" cxnId="{7CDF5A89-87DF-4CC1-8943-7A0E14869583}">
      <dgm:prSet/>
      <dgm:spPr/>
      <dgm:t>
        <a:bodyPr/>
        <a:lstStyle/>
        <a:p>
          <a:endParaRPr lang="en-US"/>
        </a:p>
      </dgm:t>
    </dgm:pt>
    <dgm:pt modelId="{BC16BF20-A847-48B0-889B-BA6389A79929}" type="sibTrans" cxnId="{7CDF5A89-87DF-4CC1-8943-7A0E14869583}">
      <dgm:prSet/>
      <dgm:spPr/>
      <dgm:t>
        <a:bodyPr/>
        <a:lstStyle/>
        <a:p>
          <a:endParaRPr lang="en-US"/>
        </a:p>
      </dgm:t>
    </dgm:pt>
    <dgm:pt modelId="{1DE38F54-13B9-49B9-8D1C-BE40A0B41642}">
      <dgm:prSet phldrT="[Text]" custT="1"/>
      <dgm:spPr/>
      <dgm:t>
        <a:bodyPr/>
        <a:lstStyle/>
        <a:p>
          <a:pPr>
            <a:buFont typeface="Arial" panose="020B0604020202020204" pitchFamily="34" charset="0"/>
            <a:buChar char="•"/>
          </a:pPr>
          <a:r>
            <a:rPr lang="en-IN" sz="1800" i="1" dirty="0">
              <a:latin typeface="Arial" panose="020B0604020202020204" pitchFamily="34" charset="0"/>
              <a:cs typeface="Arial" panose="020B0604020202020204" pitchFamily="34" charset="0"/>
            </a:rPr>
            <a:t>Funded Amount, Interest Rate, and </a:t>
          </a:r>
          <a:r>
            <a:rPr lang="en-IN" sz="1800" i="1" dirty="0" err="1">
              <a:latin typeface="Arial" panose="020B0604020202020204" pitchFamily="34" charset="0"/>
              <a:cs typeface="Arial" panose="020B0604020202020204" pitchFamily="34" charset="0"/>
            </a:rPr>
            <a:t>Installment</a:t>
          </a:r>
          <a:r>
            <a:rPr lang="en-IN" sz="1800" i="1" dirty="0">
              <a:latin typeface="Arial" panose="020B0604020202020204" pitchFamily="34" charset="0"/>
              <a:cs typeface="Arial" panose="020B0604020202020204" pitchFamily="34" charset="0"/>
            </a:rPr>
            <a:t> Details</a:t>
          </a:r>
          <a:endParaRPr lang="en-US" sz="1800" i="1" dirty="0">
            <a:latin typeface="Arial" panose="020B0604020202020204" pitchFamily="34" charset="0"/>
            <a:cs typeface="Arial" panose="020B0604020202020204" pitchFamily="34" charset="0"/>
          </a:endParaRPr>
        </a:p>
      </dgm:t>
    </dgm:pt>
    <dgm:pt modelId="{241FC70F-0CFE-4A9B-A53B-CB579CB35D65}" type="parTrans" cxnId="{E2BA7653-A0BC-4906-B811-36202FCAECA9}">
      <dgm:prSet/>
      <dgm:spPr/>
      <dgm:t>
        <a:bodyPr/>
        <a:lstStyle/>
        <a:p>
          <a:endParaRPr lang="en-US"/>
        </a:p>
      </dgm:t>
    </dgm:pt>
    <dgm:pt modelId="{5D6C750F-882D-4057-8E46-BA0F88DBA2EC}" type="sibTrans" cxnId="{E2BA7653-A0BC-4906-B811-36202FCAECA9}">
      <dgm:prSet/>
      <dgm:spPr/>
      <dgm:t>
        <a:bodyPr/>
        <a:lstStyle/>
        <a:p>
          <a:endParaRPr lang="en-US"/>
        </a:p>
      </dgm:t>
    </dgm:pt>
    <dgm:pt modelId="{8E2BC407-8791-44EA-99A9-CC07FDE7A3AE}">
      <dgm:prSet custT="1"/>
      <dgm:spPr/>
      <dgm:t>
        <a:bodyPr/>
        <a:lstStyle/>
        <a:p>
          <a:pPr>
            <a:buFont typeface="Arial" panose="020B0604020202020204" pitchFamily="34" charset="0"/>
            <a:buChar char="•"/>
          </a:pPr>
          <a:r>
            <a:rPr lang="en-IN" sz="1800" i="1" dirty="0">
              <a:latin typeface="Arial" panose="020B0604020202020204" pitchFamily="34" charset="0"/>
              <a:cs typeface="Arial" panose="020B0604020202020204" pitchFamily="34" charset="0"/>
            </a:rPr>
            <a:t>Key Performance Indicators (KPIs)</a:t>
          </a:r>
        </a:p>
      </dgm:t>
    </dgm:pt>
    <dgm:pt modelId="{C06FEAFE-79BB-4363-9693-D10D6A538942}" type="parTrans" cxnId="{57FBB8DE-3ECB-462D-9A44-42C7826E85D6}">
      <dgm:prSet/>
      <dgm:spPr/>
      <dgm:t>
        <a:bodyPr/>
        <a:lstStyle/>
        <a:p>
          <a:endParaRPr lang="en-IN"/>
        </a:p>
      </dgm:t>
    </dgm:pt>
    <dgm:pt modelId="{D1E4908B-AD52-40BC-8059-EB35066A01D1}" type="sibTrans" cxnId="{57FBB8DE-3ECB-462D-9A44-42C7826E85D6}">
      <dgm:prSet/>
      <dgm:spPr/>
      <dgm:t>
        <a:bodyPr/>
        <a:lstStyle/>
        <a:p>
          <a:endParaRPr lang="en-IN"/>
        </a:p>
      </dgm:t>
    </dgm:pt>
    <dgm:pt modelId="{ED5DCCC5-BCA8-4491-AA37-BAF153ECA184}" type="pres">
      <dgm:prSet presAssocID="{90119837-5B71-4D44-BB01-DB0B084933C8}" presName="linear" presStyleCnt="0">
        <dgm:presLayoutVars>
          <dgm:animLvl val="lvl"/>
          <dgm:resizeHandles val="exact"/>
        </dgm:presLayoutVars>
      </dgm:prSet>
      <dgm:spPr/>
    </dgm:pt>
    <dgm:pt modelId="{47A942F6-847D-4AE7-9CA0-5319E5F60B4F}" type="pres">
      <dgm:prSet presAssocID="{C111C18A-FD96-4E63-821A-54D70D8DC65F}" presName="parentText" presStyleLbl="node1" presStyleIdx="0" presStyleCnt="3">
        <dgm:presLayoutVars>
          <dgm:chMax val="0"/>
          <dgm:bulletEnabled val="1"/>
        </dgm:presLayoutVars>
      </dgm:prSet>
      <dgm:spPr/>
    </dgm:pt>
    <dgm:pt modelId="{6EA3914A-CB7F-4A5E-9543-C3A39D9197C9}" type="pres">
      <dgm:prSet presAssocID="{C111C18A-FD96-4E63-821A-54D70D8DC65F}" presName="childText" presStyleLbl="revTx" presStyleIdx="0" presStyleCnt="3">
        <dgm:presLayoutVars>
          <dgm:bulletEnabled val="1"/>
        </dgm:presLayoutVars>
      </dgm:prSet>
      <dgm:spPr/>
    </dgm:pt>
    <dgm:pt modelId="{81203336-F3DE-4B3A-BCF4-0F68C23AC2BB}" type="pres">
      <dgm:prSet presAssocID="{3C67E77D-62FA-499D-B5E6-E79A091C5267}" presName="parentText" presStyleLbl="node1" presStyleIdx="1" presStyleCnt="3">
        <dgm:presLayoutVars>
          <dgm:chMax val="0"/>
          <dgm:bulletEnabled val="1"/>
        </dgm:presLayoutVars>
      </dgm:prSet>
      <dgm:spPr/>
    </dgm:pt>
    <dgm:pt modelId="{782956A5-ADC8-4959-B856-589B9D9B9635}" type="pres">
      <dgm:prSet presAssocID="{3C67E77D-62FA-499D-B5E6-E79A091C5267}" presName="childText" presStyleLbl="revTx" presStyleIdx="1" presStyleCnt="3">
        <dgm:presLayoutVars>
          <dgm:bulletEnabled val="1"/>
        </dgm:presLayoutVars>
      </dgm:prSet>
      <dgm:spPr/>
    </dgm:pt>
    <dgm:pt modelId="{D64CB5D5-837D-47FC-9E42-A26D800BC695}" type="pres">
      <dgm:prSet presAssocID="{CC6B7442-0B72-4EF2-9F13-1325B51AFF9F}" presName="parentText" presStyleLbl="node1" presStyleIdx="2" presStyleCnt="3">
        <dgm:presLayoutVars>
          <dgm:chMax val="0"/>
          <dgm:bulletEnabled val="1"/>
        </dgm:presLayoutVars>
      </dgm:prSet>
      <dgm:spPr/>
    </dgm:pt>
    <dgm:pt modelId="{08B7B17B-8600-44B0-B235-389E5D71D804}" type="pres">
      <dgm:prSet presAssocID="{CC6B7442-0B72-4EF2-9F13-1325B51AFF9F}" presName="childText" presStyleLbl="revTx" presStyleIdx="2" presStyleCnt="3">
        <dgm:presLayoutVars>
          <dgm:bulletEnabled val="1"/>
        </dgm:presLayoutVars>
      </dgm:prSet>
      <dgm:spPr/>
    </dgm:pt>
  </dgm:ptLst>
  <dgm:cxnLst>
    <dgm:cxn modelId="{C37B6112-2040-4348-B215-46F4F5D2EE62}" type="presOf" srcId="{3C67E77D-62FA-499D-B5E6-E79A091C5267}" destId="{81203336-F3DE-4B3A-BCF4-0F68C23AC2BB}" srcOrd="0" destOrd="0" presId="urn:microsoft.com/office/officeart/2005/8/layout/vList2"/>
    <dgm:cxn modelId="{85A4AB16-4D0E-4AA6-89C3-87C107E042CB}" type="presOf" srcId="{1DE38F54-13B9-49B9-8D1C-BE40A0B41642}" destId="{08B7B17B-8600-44B0-B235-389E5D71D804}" srcOrd="0" destOrd="1" presId="urn:microsoft.com/office/officeart/2005/8/layout/vList2"/>
    <dgm:cxn modelId="{C6E7222A-5F84-456A-9806-D51868FAF8A9}" srcId="{3C67E77D-62FA-499D-B5E6-E79A091C5267}" destId="{D6510970-8F9C-4B45-A0F3-6ACB9AA76D40}" srcOrd="0" destOrd="0" parTransId="{7A9FC291-2B6A-4475-8B09-917F9F09E3AB}" sibTransId="{4B87F32C-3630-48F2-9114-4262C0BEEA9E}"/>
    <dgm:cxn modelId="{32AA6160-4426-4C4D-93AE-E2F474E37AD9}" srcId="{90119837-5B71-4D44-BB01-DB0B084933C8}" destId="{3C67E77D-62FA-499D-B5E6-E79A091C5267}" srcOrd="1" destOrd="0" parTransId="{5337D229-E330-4525-B0FA-14EC5A80604A}" sibTransId="{C056AC5D-B04E-4376-A1CB-3EAB7BE5AF5B}"/>
    <dgm:cxn modelId="{B8188763-5574-471F-84CB-460D850D3AC5}" type="presOf" srcId="{8E2BC407-8791-44EA-99A9-CC07FDE7A3AE}" destId="{6EA3914A-CB7F-4A5E-9543-C3A39D9197C9}" srcOrd="0" destOrd="1" presId="urn:microsoft.com/office/officeart/2005/8/layout/vList2"/>
    <dgm:cxn modelId="{EE896344-E4D4-4152-8316-FFF14EFE4CC2}" type="presOf" srcId="{CC6B7442-0B72-4EF2-9F13-1325B51AFF9F}" destId="{D64CB5D5-837D-47FC-9E42-A26D800BC695}" srcOrd="0" destOrd="0" presId="urn:microsoft.com/office/officeart/2005/8/layout/vList2"/>
    <dgm:cxn modelId="{A6FB3C49-AB75-4315-BB6B-886AA454F16F}" srcId="{CC6B7442-0B72-4EF2-9F13-1325B51AFF9F}" destId="{FE0A3CAE-D039-42F2-AF12-1E6F6793A633}" srcOrd="0" destOrd="0" parTransId="{7E2ED2D1-AFF4-4DED-BB53-30A310825CE2}" sibTransId="{417BDEF2-191B-4000-BDE8-D3D22A51FCF3}"/>
    <dgm:cxn modelId="{3383924B-E3C1-4E0D-93DC-3D353B87B99D}" type="presOf" srcId="{D6510970-8F9C-4B45-A0F3-6ACB9AA76D40}" destId="{782956A5-ADC8-4959-B856-589B9D9B9635}" srcOrd="0" destOrd="0" presId="urn:microsoft.com/office/officeart/2005/8/layout/vList2"/>
    <dgm:cxn modelId="{102D6D4D-90C9-40F4-A001-35DCC329B127}" srcId="{90119837-5B71-4D44-BB01-DB0B084933C8}" destId="{CC6B7442-0B72-4EF2-9F13-1325B51AFF9F}" srcOrd="2" destOrd="0" parTransId="{E3D139E0-5DC2-4F8E-9F8F-B3F0EBCD4689}" sibTransId="{FF80E1BA-0D6F-4EE8-9640-892A5897DBCD}"/>
    <dgm:cxn modelId="{FFD8B471-C98F-4DB5-8DE3-2AB7E896ADD5}" srcId="{90119837-5B71-4D44-BB01-DB0B084933C8}" destId="{C111C18A-FD96-4E63-821A-54D70D8DC65F}" srcOrd="0" destOrd="0" parTransId="{83BE74EF-FAB4-45A2-BBED-7CD5259AB210}" sibTransId="{B4F34DE2-2DAE-4F88-8C78-BD8892EBF4FF}"/>
    <dgm:cxn modelId="{E2BA7653-A0BC-4906-B811-36202FCAECA9}" srcId="{CC6B7442-0B72-4EF2-9F13-1325B51AFF9F}" destId="{1DE38F54-13B9-49B9-8D1C-BE40A0B41642}" srcOrd="1" destOrd="0" parTransId="{241FC70F-0CFE-4A9B-A53B-CB579CB35D65}" sibTransId="{5D6C750F-882D-4057-8E46-BA0F88DBA2EC}"/>
    <dgm:cxn modelId="{D770275A-B0DF-44CF-A384-EACC135C5342}" type="presOf" srcId="{FE0A3CAE-D039-42F2-AF12-1E6F6793A633}" destId="{08B7B17B-8600-44B0-B235-389E5D71D804}" srcOrd="0" destOrd="0" presId="urn:microsoft.com/office/officeart/2005/8/layout/vList2"/>
    <dgm:cxn modelId="{BD7C427A-5FC8-4F89-8F55-4370E70C9A5A}" type="presOf" srcId="{709ED9DC-E391-4C6C-B788-93F1C2EFB6FD}" destId="{782956A5-ADC8-4959-B856-589B9D9B9635}" srcOrd="0" destOrd="1" presId="urn:microsoft.com/office/officeart/2005/8/layout/vList2"/>
    <dgm:cxn modelId="{7CDF5A89-87DF-4CC1-8943-7A0E14869583}" srcId="{C111C18A-FD96-4E63-821A-54D70D8DC65F}" destId="{71D67D5D-013C-4885-A61E-A3F99D7C7108}" srcOrd="0" destOrd="0" parTransId="{13FD8B77-EC9C-4F7D-85F3-A7191A755A86}" sibTransId="{BC16BF20-A847-48B0-889B-BA6389A79929}"/>
    <dgm:cxn modelId="{1198B798-FD3F-417E-8919-BBF7F44A1F6A}" type="presOf" srcId="{90119837-5B71-4D44-BB01-DB0B084933C8}" destId="{ED5DCCC5-BCA8-4491-AA37-BAF153ECA184}" srcOrd="0" destOrd="0" presId="urn:microsoft.com/office/officeart/2005/8/layout/vList2"/>
    <dgm:cxn modelId="{78E3C3B3-FD19-41A6-A9CC-BB3375A6FF81}" srcId="{3C67E77D-62FA-499D-B5E6-E79A091C5267}" destId="{709ED9DC-E391-4C6C-B788-93F1C2EFB6FD}" srcOrd="1" destOrd="0" parTransId="{B5FA6CF0-E0A0-46A0-93C9-B722B31A8A9C}" sibTransId="{F3C03C29-D7FF-4D61-8D75-8B75B2F589EC}"/>
    <dgm:cxn modelId="{68DAE8B9-15FE-4552-91F9-C4AFCEB9594B}" type="presOf" srcId="{71D67D5D-013C-4885-A61E-A3F99D7C7108}" destId="{6EA3914A-CB7F-4A5E-9543-C3A39D9197C9}" srcOrd="0" destOrd="0" presId="urn:microsoft.com/office/officeart/2005/8/layout/vList2"/>
    <dgm:cxn modelId="{5AA98BCA-1539-4DF4-ABB3-8AB98C08E64C}" type="presOf" srcId="{C111C18A-FD96-4E63-821A-54D70D8DC65F}" destId="{47A942F6-847D-4AE7-9CA0-5319E5F60B4F}" srcOrd="0" destOrd="0" presId="urn:microsoft.com/office/officeart/2005/8/layout/vList2"/>
    <dgm:cxn modelId="{57FBB8DE-3ECB-462D-9A44-42C7826E85D6}" srcId="{C111C18A-FD96-4E63-821A-54D70D8DC65F}" destId="{8E2BC407-8791-44EA-99A9-CC07FDE7A3AE}" srcOrd="1" destOrd="0" parTransId="{C06FEAFE-79BB-4363-9693-D10D6A538942}" sibTransId="{D1E4908B-AD52-40BC-8059-EB35066A01D1}"/>
    <dgm:cxn modelId="{23BC3725-9E25-4B83-8F30-3577C7EDEACD}" type="presParOf" srcId="{ED5DCCC5-BCA8-4491-AA37-BAF153ECA184}" destId="{47A942F6-847D-4AE7-9CA0-5319E5F60B4F}" srcOrd="0" destOrd="0" presId="urn:microsoft.com/office/officeart/2005/8/layout/vList2"/>
    <dgm:cxn modelId="{35B0010D-5A50-4E3A-AB5E-4FDE822FA34F}" type="presParOf" srcId="{ED5DCCC5-BCA8-4491-AA37-BAF153ECA184}" destId="{6EA3914A-CB7F-4A5E-9543-C3A39D9197C9}" srcOrd="1" destOrd="0" presId="urn:microsoft.com/office/officeart/2005/8/layout/vList2"/>
    <dgm:cxn modelId="{011AEFB0-29A6-47C9-8097-E09A7ABEC44A}" type="presParOf" srcId="{ED5DCCC5-BCA8-4491-AA37-BAF153ECA184}" destId="{81203336-F3DE-4B3A-BCF4-0F68C23AC2BB}" srcOrd="2" destOrd="0" presId="urn:microsoft.com/office/officeart/2005/8/layout/vList2"/>
    <dgm:cxn modelId="{29E6835C-59D1-4D0E-B1D8-60041EEEBE9D}" type="presParOf" srcId="{ED5DCCC5-BCA8-4491-AA37-BAF153ECA184}" destId="{782956A5-ADC8-4959-B856-589B9D9B9635}" srcOrd="3" destOrd="0" presId="urn:microsoft.com/office/officeart/2005/8/layout/vList2"/>
    <dgm:cxn modelId="{4BA81705-493D-436D-8F5C-8A0A23209AB6}" type="presParOf" srcId="{ED5DCCC5-BCA8-4491-AA37-BAF153ECA184}" destId="{D64CB5D5-837D-47FC-9E42-A26D800BC695}" srcOrd="4" destOrd="0" presId="urn:microsoft.com/office/officeart/2005/8/layout/vList2"/>
    <dgm:cxn modelId="{B77E010D-C406-4330-9F1F-348370565A84}" type="presParOf" srcId="{ED5DCCC5-BCA8-4491-AA37-BAF153ECA184}" destId="{08B7B17B-8600-44B0-B235-389E5D71D804}"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A942F6-847D-4AE7-9CA0-5319E5F60B4F}">
      <dsp:nvSpPr>
        <dsp:cNvPr id="0" name=""/>
        <dsp:cNvSpPr/>
      </dsp:nvSpPr>
      <dsp:spPr>
        <a:xfrm>
          <a:off x="0" y="27266"/>
          <a:ext cx="5029199" cy="64759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Summary</a:t>
          </a:r>
        </a:p>
      </dsp:txBody>
      <dsp:txXfrm>
        <a:off x="31613" y="58879"/>
        <a:ext cx="4965973" cy="584369"/>
      </dsp:txXfrm>
    </dsp:sp>
    <dsp:sp modelId="{6EA3914A-CB7F-4A5E-9543-C3A39D9197C9}">
      <dsp:nvSpPr>
        <dsp:cNvPr id="0" name=""/>
        <dsp:cNvSpPr/>
      </dsp:nvSpPr>
      <dsp:spPr>
        <a:xfrm>
          <a:off x="0" y="674861"/>
          <a:ext cx="5029199" cy="5728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677" tIns="22860" rIns="128016" bIns="22860" numCol="1" spcCol="1270" anchor="t" anchorCtr="0">
          <a:noAutofit/>
        </a:bodyPr>
        <a:lstStyle/>
        <a:p>
          <a:pPr marL="171450" lvl="1" indent="-171450" algn="l" defTabSz="800100">
            <a:lnSpc>
              <a:spcPct val="90000"/>
            </a:lnSpc>
            <a:spcBef>
              <a:spcPct val="0"/>
            </a:spcBef>
            <a:spcAft>
              <a:spcPct val="20000"/>
            </a:spcAft>
            <a:buFont typeface="Arial" panose="020B0604020202020204" pitchFamily="34" charset="0"/>
            <a:buChar char="•"/>
          </a:pPr>
          <a:r>
            <a:rPr lang="en-IN" sz="1800" i="1" kern="1200" dirty="0">
              <a:latin typeface="Arial" panose="020B0604020202020204" pitchFamily="34" charset="0"/>
              <a:cs typeface="Arial" panose="020B0604020202020204" pitchFamily="34" charset="0"/>
            </a:rPr>
            <a:t>Good Loan vs. Bad Loan Analysis</a:t>
          </a:r>
          <a:endParaRPr lang="en-US" sz="1800" i="1" kern="1200" dirty="0">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Font typeface="Arial" panose="020B0604020202020204" pitchFamily="34" charset="0"/>
            <a:buChar char="•"/>
          </a:pPr>
          <a:r>
            <a:rPr lang="en-IN" sz="1800" i="1" kern="1200" dirty="0">
              <a:latin typeface="Arial" panose="020B0604020202020204" pitchFamily="34" charset="0"/>
              <a:cs typeface="Arial" panose="020B0604020202020204" pitchFamily="34" charset="0"/>
            </a:rPr>
            <a:t>Key Performance Indicators (KPIs)</a:t>
          </a:r>
        </a:p>
      </dsp:txBody>
      <dsp:txXfrm>
        <a:off x="0" y="674861"/>
        <a:ext cx="5029199" cy="572872"/>
      </dsp:txXfrm>
    </dsp:sp>
    <dsp:sp modelId="{81203336-F3DE-4B3A-BCF4-0F68C23AC2BB}">
      <dsp:nvSpPr>
        <dsp:cNvPr id="0" name=""/>
        <dsp:cNvSpPr/>
      </dsp:nvSpPr>
      <dsp:spPr>
        <a:xfrm>
          <a:off x="0" y="1247733"/>
          <a:ext cx="5029199" cy="647595"/>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Overviews</a:t>
          </a:r>
        </a:p>
      </dsp:txBody>
      <dsp:txXfrm>
        <a:off x="31613" y="1279346"/>
        <a:ext cx="4965973" cy="584369"/>
      </dsp:txXfrm>
    </dsp:sp>
    <dsp:sp modelId="{782956A5-ADC8-4959-B856-589B9D9B9635}">
      <dsp:nvSpPr>
        <dsp:cNvPr id="0" name=""/>
        <dsp:cNvSpPr/>
      </dsp:nvSpPr>
      <dsp:spPr>
        <a:xfrm>
          <a:off x="0" y="1895328"/>
          <a:ext cx="5029199" cy="810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677" tIns="22860" rIns="128016" bIns="22860" numCol="1" spcCol="1270" anchor="t" anchorCtr="0">
          <a:noAutofit/>
        </a:bodyPr>
        <a:lstStyle/>
        <a:p>
          <a:pPr marL="171450" lvl="1" indent="-171450" algn="l" defTabSz="800100">
            <a:lnSpc>
              <a:spcPct val="90000"/>
            </a:lnSpc>
            <a:spcBef>
              <a:spcPct val="0"/>
            </a:spcBef>
            <a:spcAft>
              <a:spcPct val="20000"/>
            </a:spcAft>
            <a:buFont typeface="Arial" panose="020B0604020202020204" pitchFamily="34" charset="0"/>
            <a:buChar char="•"/>
          </a:pPr>
          <a:r>
            <a:rPr lang="en-IN" sz="1800" i="1" kern="1200" dirty="0">
              <a:latin typeface="Arial" panose="020B0604020202020204" pitchFamily="34" charset="0"/>
              <a:cs typeface="Arial" panose="020B0604020202020204" pitchFamily="34" charset="0"/>
            </a:rPr>
            <a:t>Loan Applications by Month and State</a:t>
          </a:r>
          <a:endParaRPr lang="en-US" sz="1800" i="1" kern="1200" dirty="0">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Font typeface="Arial" panose="020B0604020202020204" pitchFamily="34" charset="0"/>
            <a:buChar char="•"/>
          </a:pPr>
          <a:r>
            <a:rPr lang="en-IN" sz="1800" i="1" kern="1200" dirty="0">
              <a:latin typeface="Arial" panose="020B0604020202020204" pitchFamily="34" charset="0"/>
              <a:cs typeface="Arial" panose="020B0604020202020204" pitchFamily="34" charset="0"/>
            </a:rPr>
            <a:t>Analysis by Term, Purpose, and Home Ownership</a:t>
          </a:r>
          <a:endParaRPr lang="en-US" sz="1800" i="1" kern="1200" dirty="0">
            <a:latin typeface="Arial" panose="020B0604020202020204" pitchFamily="34" charset="0"/>
            <a:cs typeface="Arial" panose="020B0604020202020204" pitchFamily="34" charset="0"/>
          </a:endParaRPr>
        </a:p>
      </dsp:txBody>
      <dsp:txXfrm>
        <a:off x="0" y="1895328"/>
        <a:ext cx="5029199" cy="810404"/>
      </dsp:txXfrm>
    </dsp:sp>
    <dsp:sp modelId="{D64CB5D5-837D-47FC-9E42-A26D800BC695}">
      <dsp:nvSpPr>
        <dsp:cNvPr id="0" name=""/>
        <dsp:cNvSpPr/>
      </dsp:nvSpPr>
      <dsp:spPr>
        <a:xfrm>
          <a:off x="0" y="2705733"/>
          <a:ext cx="5029199" cy="647595"/>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Details </a:t>
          </a:r>
        </a:p>
      </dsp:txBody>
      <dsp:txXfrm>
        <a:off x="31613" y="2737346"/>
        <a:ext cx="4965973" cy="584369"/>
      </dsp:txXfrm>
    </dsp:sp>
    <dsp:sp modelId="{08B7B17B-8600-44B0-B235-389E5D71D804}">
      <dsp:nvSpPr>
        <dsp:cNvPr id="0" name=""/>
        <dsp:cNvSpPr/>
      </dsp:nvSpPr>
      <dsp:spPr>
        <a:xfrm>
          <a:off x="0" y="3353328"/>
          <a:ext cx="5029199" cy="810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677" tIns="22860" rIns="128016" bIns="22860" numCol="1" spcCol="1270" anchor="t" anchorCtr="0">
          <a:noAutofit/>
        </a:bodyPr>
        <a:lstStyle/>
        <a:p>
          <a:pPr marL="171450" lvl="1" indent="-171450" algn="l" defTabSz="800100">
            <a:lnSpc>
              <a:spcPct val="90000"/>
            </a:lnSpc>
            <a:spcBef>
              <a:spcPct val="0"/>
            </a:spcBef>
            <a:spcAft>
              <a:spcPct val="20000"/>
            </a:spcAft>
            <a:buFont typeface="Arial" panose="020B0604020202020204" pitchFamily="34" charset="0"/>
            <a:buChar char="•"/>
          </a:pPr>
          <a:r>
            <a:rPr lang="en-IN" sz="1800" i="1" kern="1200" dirty="0">
              <a:latin typeface="Arial" panose="020B0604020202020204" pitchFamily="34" charset="0"/>
              <a:cs typeface="Arial" panose="020B0604020202020204" pitchFamily="34" charset="0"/>
            </a:rPr>
            <a:t>Loan Application Records</a:t>
          </a:r>
          <a:endParaRPr lang="en-US" sz="1800" i="1" kern="1200" dirty="0">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Font typeface="Arial" panose="020B0604020202020204" pitchFamily="34" charset="0"/>
            <a:buChar char="•"/>
          </a:pPr>
          <a:r>
            <a:rPr lang="en-IN" sz="1800" i="1" kern="1200" dirty="0">
              <a:latin typeface="Arial" panose="020B0604020202020204" pitchFamily="34" charset="0"/>
              <a:cs typeface="Arial" panose="020B0604020202020204" pitchFamily="34" charset="0"/>
            </a:rPr>
            <a:t>Funded Amount, Interest Rate, and </a:t>
          </a:r>
          <a:r>
            <a:rPr lang="en-IN" sz="1800" i="1" kern="1200" dirty="0" err="1">
              <a:latin typeface="Arial" panose="020B0604020202020204" pitchFamily="34" charset="0"/>
              <a:cs typeface="Arial" panose="020B0604020202020204" pitchFamily="34" charset="0"/>
            </a:rPr>
            <a:t>Installment</a:t>
          </a:r>
          <a:r>
            <a:rPr lang="en-IN" sz="1800" i="1" kern="1200" dirty="0">
              <a:latin typeface="Arial" panose="020B0604020202020204" pitchFamily="34" charset="0"/>
              <a:cs typeface="Arial" panose="020B0604020202020204" pitchFamily="34" charset="0"/>
            </a:rPr>
            <a:t> Details</a:t>
          </a:r>
          <a:endParaRPr lang="en-US" sz="1800" i="1" kern="1200" dirty="0">
            <a:latin typeface="Arial" panose="020B0604020202020204" pitchFamily="34" charset="0"/>
            <a:cs typeface="Arial" panose="020B0604020202020204" pitchFamily="34" charset="0"/>
          </a:endParaRPr>
        </a:p>
      </dsp:txBody>
      <dsp:txXfrm>
        <a:off x="0" y="3353328"/>
        <a:ext cx="5029199" cy="81040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drawing1.xml.rels><?xml version="1.0" encoding="UTF-8" standalone="yes"?>
<Relationships xmlns="http://schemas.openxmlformats.org/package/2006/relationships"><Relationship Id="rId1" Type="http://schemas.openxmlformats.org/officeDocument/2006/relationships/image" Target="../media/image5.png"/></Relationships>
</file>

<file path=ppt/drawings/drawing1.xml><?xml version="1.0" encoding="utf-8"?>
<c:userShapes xmlns:c="http://schemas.openxmlformats.org/drawingml/2006/chart">
  <cdr:relSizeAnchor xmlns:cdr="http://schemas.openxmlformats.org/drawingml/2006/chartDrawing">
    <cdr:from>
      <cdr:x>0.08167</cdr:x>
      <cdr:y>0.12557</cdr:y>
    </cdr:from>
    <cdr:to>
      <cdr:x>0.95212</cdr:x>
      <cdr:y>0.65653</cdr:y>
    </cdr:to>
    <cdr:pic>
      <cdr:nvPicPr>
        <cdr:cNvPr id="2" name="chart">
          <a:extLst xmlns:a="http://schemas.openxmlformats.org/drawingml/2006/main">
            <a:ext uri="{FF2B5EF4-FFF2-40B4-BE49-F238E27FC236}">
              <a16:creationId xmlns:a16="http://schemas.microsoft.com/office/drawing/2014/main" id="{60B3E9AC-1114-2522-8788-467FA541614C}"/>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840159" y="526279"/>
          <a:ext cx="8954276" cy="2225233"/>
        </a:xfrm>
        <a:prstGeom xmlns:a="http://schemas.openxmlformats.org/drawingml/2006/main" prst="rect">
          <a:avLst/>
        </a:prstGeom>
      </cdr:spPr>
    </cdr:pic>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C8CEC3D-96F7-401F-9673-3EE7F75C9C5B}" type="datetimeFigureOut">
              <a:rPr lang="en-US"/>
              <a:t>10/13/2026</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98ED8CD-4E4C-49AC-BDC6-2963BA49E54F}" type="slidenum">
              <a:rPr/>
              <a:t>‹#›</a:t>
            </a:fld>
            <a:endParaRPr/>
          </a:p>
        </p:txBody>
      </p:sp>
    </p:spTree>
    <p:extLst>
      <p:ext uri="{BB962C8B-B14F-4D97-AF65-F5344CB8AC3E}">
        <p14:creationId xmlns:p14="http://schemas.microsoft.com/office/powerpoint/2010/main" val="3434179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032BCF4-D26D-4DAF-9F57-FE1E61FE7935}" type="datetimeFigureOut">
              <a:rPr lang="en-US"/>
              <a:t>10/13/2026</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FB91549-43BF-425A-AF25-75262019208C}" type="slidenum">
              <a:rPr/>
              <a:t>‹#›</a:t>
            </a:fld>
            <a:endParaRPr/>
          </a:p>
        </p:txBody>
      </p:sp>
    </p:spTree>
    <p:extLst>
      <p:ext uri="{BB962C8B-B14F-4D97-AF65-F5344CB8AC3E}">
        <p14:creationId xmlns:p14="http://schemas.microsoft.com/office/powerpoint/2010/main" val="4239286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A0D00EA6-0821-4AC5-933C-321AA6545349}" type="slidenum">
              <a:rPr/>
              <a:t>16</a:t>
            </a:fld>
            <a:endParaRPr/>
          </a:p>
        </p:txBody>
      </p:sp>
    </p:spTree>
    <p:extLst>
      <p:ext uri="{BB962C8B-B14F-4D97-AF65-F5344CB8AC3E}">
        <p14:creationId xmlns:p14="http://schemas.microsoft.com/office/powerpoint/2010/main" val="40107723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pic>
        <p:nvPicPr>
          <p:cNvPr id="5" name="Picture 4" descr="Looking up to clouds and blue sky surrounded by glass-walled buildings"/>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4873625" y="0"/>
            <a:ext cx="7315200" cy="6858001"/>
          </a:xfrm>
          <a:prstGeom prst="rect">
            <a:avLst/>
          </a:prstGeom>
        </p:spPr>
      </p:pic>
      <p:sp>
        <p:nvSpPr>
          <p:cNvPr id="2" name="Title 1"/>
          <p:cNvSpPr>
            <a:spLocks noGrp="1"/>
          </p:cNvSpPr>
          <p:nvPr>
            <p:ph type="ctrTitle"/>
          </p:nvPr>
        </p:nvSpPr>
        <p:spPr>
          <a:xfrm>
            <a:off x="608013" y="685801"/>
            <a:ext cx="3962400" cy="4724399"/>
          </a:xfrm>
        </p:spPr>
        <p:txBody>
          <a:bodyPr>
            <a:normAutofit/>
          </a:bodyPr>
          <a:lstStyle>
            <a:lvl1pPr>
              <a:defRPr sz="4800"/>
            </a:lvl1pPr>
          </a:lstStyle>
          <a:p>
            <a:r>
              <a:rPr lang="en-US"/>
              <a:t>Click to edit Master title style</a:t>
            </a:r>
            <a:endParaRPr/>
          </a:p>
        </p:txBody>
      </p:sp>
      <p:sp>
        <p:nvSpPr>
          <p:cNvPr id="3" name="Subtitle 2"/>
          <p:cNvSpPr>
            <a:spLocks noGrp="1"/>
          </p:cNvSpPr>
          <p:nvPr>
            <p:ph type="subTitle" idx="1"/>
          </p:nvPr>
        </p:nvSpPr>
        <p:spPr>
          <a:xfrm>
            <a:off x="608013" y="5410200"/>
            <a:ext cx="3962400" cy="762000"/>
          </a:xfrm>
        </p:spPr>
        <p:txBody>
          <a:bodyPr>
            <a:normAutofit/>
          </a:bodyPr>
          <a:lstStyle>
            <a:lvl1pPr marL="0" indent="0" algn="l">
              <a:spcBef>
                <a:spcPts val="0"/>
              </a:spcBef>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8" name="Date Placeholder 7"/>
          <p:cNvSpPr>
            <a:spLocks noGrp="1"/>
          </p:cNvSpPr>
          <p:nvPr>
            <p:ph type="dt" sz="half" idx="10"/>
          </p:nvPr>
        </p:nvSpPr>
        <p:spPr/>
        <p:txBody>
          <a:bodyPr/>
          <a:lstStyle/>
          <a:p>
            <a:fld id="{81C93FC7-9D1A-468B-98DB-D1E8D74418D9}" type="datetimeFigureOut">
              <a:rPr lang="en-US"/>
              <a:pPr/>
              <a:t>10/13/2026</a:t>
            </a:fld>
            <a:endParaRPr/>
          </a:p>
        </p:txBody>
      </p:sp>
      <p:sp>
        <p:nvSpPr>
          <p:cNvPr id="9" name="Footer Placeholder 8"/>
          <p:cNvSpPr>
            <a:spLocks noGrp="1"/>
          </p:cNvSpPr>
          <p:nvPr>
            <p:ph type="ftr" sz="quarter" idx="11"/>
          </p:nvPr>
        </p:nvSpPr>
        <p:spPr/>
        <p:txBody>
          <a:bodyPr/>
          <a:lstStyle/>
          <a:p>
            <a:r>
              <a:rPr lang="en-US" dirty="0"/>
              <a:t>Add a footer</a:t>
            </a:r>
          </a:p>
        </p:txBody>
      </p:sp>
      <p:sp>
        <p:nvSpPr>
          <p:cNvPr id="10" name="Slide Number Placeholder 9"/>
          <p:cNvSpPr>
            <a:spLocks noGrp="1"/>
          </p:cNvSpPr>
          <p:nvPr>
            <p:ph type="sldNum" sz="quarter" idx="12"/>
          </p:nvPr>
        </p:nvSpPr>
        <p:spPr/>
        <p:txBody>
          <a:bodyPr/>
          <a:lstStyle/>
          <a:p>
            <a:fld id="{A3F31473-23EB-4724-8B59-FE6D21D89FA4}" type="slidenum">
              <a:rPr/>
              <a:pPr/>
              <a:t>‹#›</a:t>
            </a:fld>
            <a:endParaRPr/>
          </a:p>
        </p:txBody>
      </p:sp>
    </p:spTree>
    <p:extLst>
      <p:ext uri="{BB962C8B-B14F-4D97-AF65-F5344CB8AC3E}">
        <p14:creationId xmlns:p14="http://schemas.microsoft.com/office/powerpoint/2010/main" val="27348395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81C93FC7-9D1A-468B-98DB-D1E8D74418D9}" type="datetimeFigureOut">
              <a:rPr lang="en-US"/>
              <a:t>10/13/2026</a:t>
            </a:fld>
            <a:endParaRPr/>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A3F31473-23EB-4724-8B59-FE6D21D89FA4}" type="slidenum">
              <a:rPr/>
              <a:t>‹#›</a:t>
            </a:fld>
            <a:endParaRPr/>
          </a:p>
        </p:txBody>
      </p:sp>
    </p:spTree>
    <p:extLst>
      <p:ext uri="{BB962C8B-B14F-4D97-AF65-F5344CB8AC3E}">
        <p14:creationId xmlns:p14="http://schemas.microsoft.com/office/powerpoint/2010/main" val="3137862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90800"/>
            <a:ext cx="8229599" cy="2819400"/>
          </a:xfrm>
        </p:spPr>
        <p:txBody>
          <a:bodyPr anchor="b">
            <a:normAutofit/>
          </a:bodyPr>
          <a:lstStyle>
            <a:lvl1pPr algn="l">
              <a:defRPr sz="4800" b="0" cap="none" baseline="0"/>
            </a:lvl1pPr>
          </a:lstStyle>
          <a:p>
            <a:r>
              <a:rPr lang="en-US"/>
              <a:t>Click to edit Master title style</a:t>
            </a:r>
            <a:endParaRPr/>
          </a:p>
        </p:txBody>
      </p:sp>
      <p:sp>
        <p:nvSpPr>
          <p:cNvPr id="3" name="Text Placeholder 2"/>
          <p:cNvSpPr>
            <a:spLocks noGrp="1"/>
          </p:cNvSpPr>
          <p:nvPr>
            <p:ph type="body" idx="1"/>
          </p:nvPr>
        </p:nvSpPr>
        <p:spPr>
          <a:xfrm>
            <a:off x="606425" y="5410200"/>
            <a:ext cx="8231187" cy="762000"/>
          </a:xfrm>
        </p:spPr>
        <p:txBody>
          <a:bodyPr anchor="t">
            <a:normAutofit/>
          </a:bodyPr>
          <a:lstStyle>
            <a:lvl1pPr marL="0" indent="0">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81C93FC7-9D1A-468B-98DB-D1E8D74418D9}" type="datetimeFigureOut">
              <a:rPr lang="en-US"/>
              <a:pPr/>
              <a:t>10/13/2026</a:t>
            </a:fld>
            <a:endParaRPr/>
          </a:p>
        </p:txBody>
      </p:sp>
      <p:sp>
        <p:nvSpPr>
          <p:cNvPr id="8" name="Footer Placeholder 7"/>
          <p:cNvSpPr>
            <a:spLocks noGrp="1"/>
          </p:cNvSpPr>
          <p:nvPr>
            <p:ph type="ftr" sz="quarter" idx="11"/>
          </p:nvPr>
        </p:nvSpPr>
        <p:spPr/>
        <p:txBody>
          <a:bodyPr/>
          <a:lstStyle/>
          <a:p>
            <a:r>
              <a:rPr lang="en-US" dirty="0"/>
              <a:t>Add a footer</a:t>
            </a:r>
            <a:endParaRPr dirty="0"/>
          </a:p>
        </p:txBody>
      </p:sp>
      <p:sp>
        <p:nvSpPr>
          <p:cNvPr id="9" name="Slide Number Placeholder 8"/>
          <p:cNvSpPr>
            <a:spLocks noGrp="1"/>
          </p:cNvSpPr>
          <p:nvPr>
            <p:ph type="sldNum" sz="quarter" idx="12"/>
          </p:nvPr>
        </p:nvSpPr>
        <p:spPr/>
        <p:txBody>
          <a:bodyPr/>
          <a:lstStyle/>
          <a:p>
            <a:fld id="{A3F31473-23EB-4724-8B59-FE6D21D89FA4}" type="slidenum">
              <a:rPr/>
              <a:pPr/>
              <a:t>‹#›</a:t>
            </a:fld>
            <a:endParaRPr/>
          </a:p>
        </p:txBody>
      </p:sp>
    </p:spTree>
    <p:extLst>
      <p:ext uri="{BB962C8B-B14F-4D97-AF65-F5344CB8AC3E}">
        <p14:creationId xmlns:p14="http://schemas.microsoft.com/office/powerpoint/2010/main" val="322511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93813" y="685800"/>
            <a:ext cx="5029200" cy="4191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51614" y="685800"/>
            <a:ext cx="5029199" cy="4191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81C93FC7-9D1A-468B-98DB-D1E8D74418D9}" type="datetimeFigureOut">
              <a:rPr lang="en-US"/>
              <a:t>10/13/2026</a:t>
            </a:fld>
            <a:endParaRP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7" name="Slide Number Placeholder 6"/>
          <p:cNvSpPr>
            <a:spLocks noGrp="1"/>
          </p:cNvSpPr>
          <p:nvPr>
            <p:ph type="sldNum" sz="quarter" idx="12"/>
          </p:nvPr>
        </p:nvSpPr>
        <p:spPr/>
        <p:txBody>
          <a:bodyPr/>
          <a:lstStyle/>
          <a:p>
            <a:fld id="{A3F31473-23EB-4724-8B59-FE6D21D89FA4}" type="slidenum">
              <a:rPr/>
              <a:t>‹#›</a:t>
            </a:fld>
            <a:endParaRPr/>
          </a:p>
        </p:txBody>
      </p:sp>
    </p:spTree>
    <p:extLst>
      <p:ext uri="{BB962C8B-B14F-4D97-AF65-F5344CB8AC3E}">
        <p14:creationId xmlns:p14="http://schemas.microsoft.com/office/powerpoint/2010/main" val="389701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93664" y="685800"/>
            <a:ext cx="5029200" cy="990600"/>
          </a:xfrm>
        </p:spPr>
        <p:txBody>
          <a:bodyPr anchor="ctr">
            <a:normAutofit/>
          </a:bodyPr>
          <a:lstStyle>
            <a:lvl1pPr marL="0" indent="0">
              <a:spcBef>
                <a:spcPts val="0"/>
              </a:spcBef>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3664" y="1676400"/>
            <a:ext cx="502920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551613" y="685800"/>
            <a:ext cx="5029200" cy="990600"/>
          </a:xfrm>
        </p:spPr>
        <p:txBody>
          <a:bodyPr anchor="ctr">
            <a:normAutofit/>
          </a:bodyPr>
          <a:lstStyle>
            <a:lvl1pPr marL="0" indent="0">
              <a:spcBef>
                <a:spcPts val="0"/>
              </a:spcBef>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50025" y="1676400"/>
            <a:ext cx="502920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81C93FC7-9D1A-468B-98DB-D1E8D74418D9}" type="datetimeFigureOut">
              <a:rPr lang="en-US"/>
              <a:t>10/13/2026</a:t>
            </a:fld>
            <a:endParaRPr/>
          </a:p>
        </p:txBody>
      </p:sp>
      <p:sp>
        <p:nvSpPr>
          <p:cNvPr id="8" name="Footer Placeholder 7"/>
          <p:cNvSpPr>
            <a:spLocks noGrp="1"/>
          </p:cNvSpPr>
          <p:nvPr>
            <p:ph type="ftr" sz="quarter" idx="11"/>
          </p:nvPr>
        </p:nvSpPr>
        <p:spPr/>
        <p:txBody>
          <a:bodyPr/>
          <a:lstStyle/>
          <a:p>
            <a:r>
              <a:rPr lang="en-US" dirty="0"/>
              <a:t>Add a footer</a:t>
            </a:r>
            <a:endParaRPr dirty="0"/>
          </a:p>
        </p:txBody>
      </p:sp>
      <p:sp>
        <p:nvSpPr>
          <p:cNvPr id="9" name="Slide Number Placeholder 8"/>
          <p:cNvSpPr>
            <a:spLocks noGrp="1"/>
          </p:cNvSpPr>
          <p:nvPr>
            <p:ph type="sldNum" sz="quarter" idx="12"/>
          </p:nvPr>
        </p:nvSpPr>
        <p:spPr/>
        <p:txBody>
          <a:bodyPr/>
          <a:lstStyle/>
          <a:p>
            <a:fld id="{A3F31473-23EB-4724-8B59-FE6D21D89FA4}" type="slidenum">
              <a:rPr/>
              <a:t>‹#›</a:t>
            </a:fld>
            <a:endParaRPr/>
          </a:p>
        </p:txBody>
      </p:sp>
    </p:spTree>
    <p:extLst>
      <p:ext uri="{BB962C8B-B14F-4D97-AF65-F5344CB8AC3E}">
        <p14:creationId xmlns:p14="http://schemas.microsoft.com/office/powerpoint/2010/main" val="513096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81C93FC7-9D1A-468B-98DB-D1E8D74418D9}" type="datetimeFigureOut">
              <a:rPr lang="en-US"/>
              <a:t>10/13/2026</a:t>
            </a:fld>
            <a:endParaRPr/>
          </a:p>
        </p:txBody>
      </p:sp>
      <p:sp>
        <p:nvSpPr>
          <p:cNvPr id="4" name="Footer Placeholder 3"/>
          <p:cNvSpPr>
            <a:spLocks noGrp="1"/>
          </p:cNvSpPr>
          <p:nvPr>
            <p:ph type="ftr" sz="quarter" idx="11"/>
          </p:nvPr>
        </p:nvSpPr>
        <p:spPr/>
        <p:txBody>
          <a:bodyPr/>
          <a:lstStyle/>
          <a:p>
            <a:r>
              <a:rPr lang="en-US" dirty="0"/>
              <a:t>Add a footer</a:t>
            </a:r>
            <a:endParaRPr dirty="0"/>
          </a:p>
        </p:txBody>
      </p:sp>
      <p:sp>
        <p:nvSpPr>
          <p:cNvPr id="5" name="Slide Number Placeholder 4"/>
          <p:cNvSpPr>
            <a:spLocks noGrp="1"/>
          </p:cNvSpPr>
          <p:nvPr>
            <p:ph type="sldNum" sz="quarter" idx="12"/>
          </p:nvPr>
        </p:nvSpPr>
        <p:spPr/>
        <p:txBody>
          <a:bodyPr/>
          <a:lstStyle/>
          <a:p>
            <a:fld id="{A3F31473-23EB-4724-8B59-FE6D21D89FA4}" type="slidenum">
              <a:rPr/>
              <a:t>‹#›</a:t>
            </a:fld>
            <a:endParaRPr/>
          </a:p>
        </p:txBody>
      </p:sp>
    </p:spTree>
    <p:extLst>
      <p:ext uri="{BB962C8B-B14F-4D97-AF65-F5344CB8AC3E}">
        <p14:creationId xmlns:p14="http://schemas.microsoft.com/office/powerpoint/2010/main" val="3134428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C93FC7-9D1A-468B-98DB-D1E8D74418D9}" type="datetimeFigureOut">
              <a:rPr lang="en-US"/>
              <a:t>10/13/2026</a:t>
            </a:fld>
            <a:endParaRPr/>
          </a:p>
        </p:txBody>
      </p:sp>
      <p:sp>
        <p:nvSpPr>
          <p:cNvPr id="3" name="Footer Placeholder 2"/>
          <p:cNvSpPr>
            <a:spLocks noGrp="1"/>
          </p:cNvSpPr>
          <p:nvPr>
            <p:ph type="ftr" sz="quarter" idx="11"/>
          </p:nvPr>
        </p:nvSpPr>
        <p:spPr/>
        <p:txBody>
          <a:bodyPr/>
          <a:lstStyle/>
          <a:p>
            <a:r>
              <a:rPr lang="en-US" dirty="0"/>
              <a:t>Add a footer</a:t>
            </a:r>
            <a:endParaRPr dirty="0"/>
          </a:p>
        </p:txBody>
      </p:sp>
      <p:sp>
        <p:nvSpPr>
          <p:cNvPr id="4" name="Slide Number Placeholder 3"/>
          <p:cNvSpPr>
            <a:spLocks noGrp="1"/>
          </p:cNvSpPr>
          <p:nvPr>
            <p:ph type="sldNum" sz="quarter" idx="12"/>
          </p:nvPr>
        </p:nvSpPr>
        <p:spPr/>
        <p:txBody>
          <a:bodyPr/>
          <a:lstStyle/>
          <a:p>
            <a:fld id="{A3F31473-23EB-4724-8B59-FE6D21D89FA4}" type="slidenum">
              <a:rPr/>
              <a:t>‹#›</a:t>
            </a:fld>
            <a:endParaRPr/>
          </a:p>
        </p:txBody>
      </p:sp>
    </p:spTree>
    <p:extLst>
      <p:ext uri="{BB962C8B-B14F-4D97-AF65-F5344CB8AC3E}">
        <p14:creationId xmlns:p14="http://schemas.microsoft.com/office/powerpoint/2010/main" val="1910311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8014" y="685800"/>
            <a:ext cx="3962400" cy="4724400"/>
          </a:xfrm>
        </p:spPr>
        <p:txBody>
          <a:bodyPr anchor="b">
            <a:noAutofit/>
          </a:bodyPr>
          <a:lstStyle>
            <a:lvl1pPr algn="l">
              <a:defRPr sz="3600" b="0"/>
            </a:lvl1pPr>
          </a:lstStyle>
          <a:p>
            <a:r>
              <a:rPr lang="en-US"/>
              <a:t>Click to edit Master title style</a:t>
            </a:r>
            <a:endParaRPr/>
          </a:p>
        </p:txBody>
      </p:sp>
      <p:sp>
        <p:nvSpPr>
          <p:cNvPr id="3" name="Content Placeholder 2"/>
          <p:cNvSpPr>
            <a:spLocks noGrp="1"/>
          </p:cNvSpPr>
          <p:nvPr>
            <p:ph idx="1"/>
          </p:nvPr>
        </p:nvSpPr>
        <p:spPr>
          <a:xfrm>
            <a:off x="4875212" y="685800"/>
            <a:ext cx="6704171" cy="5486400"/>
          </a:xfrm>
        </p:spPr>
        <p:txBody>
          <a:bodyPr>
            <a:normAutofit/>
          </a:bodyPr>
          <a:lstStyle>
            <a:lvl1pPr>
              <a:defRPr sz="2800"/>
            </a:lvl1pPr>
            <a:lvl2pPr>
              <a:defRPr sz="2400"/>
            </a:lvl2pPr>
            <a:lvl3pPr>
              <a:defRPr sz="2000"/>
            </a:lvl3pPr>
            <a:lvl4pPr>
              <a:defRPr sz="1800"/>
            </a:lvl4pPr>
            <a:lvl5pPr>
              <a:defRPr sz="1800"/>
            </a:lvl5pPr>
            <a:lvl6pPr>
              <a:defRPr sz="1800" baseline="0"/>
            </a:lvl6pPr>
            <a:lvl7pPr>
              <a:defRPr sz="1800" baseline="0"/>
            </a:lvl7pPr>
            <a:lvl8pPr>
              <a:defRPr sz="1800" baseline="0"/>
            </a:lvl8pPr>
            <a:lvl9pPr>
              <a:defRPr sz="18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08013" y="5410200"/>
            <a:ext cx="3962400" cy="762000"/>
          </a:xfrm>
        </p:spPr>
        <p:txBody>
          <a:bodyPr>
            <a:normAutofit/>
          </a:bodyPr>
          <a:lstStyle>
            <a:lvl1pPr marL="0" indent="0">
              <a:spcBef>
                <a:spcPts val="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C93FC7-9D1A-468B-98DB-D1E8D74418D9}" type="datetimeFigureOut">
              <a:rPr lang="en-US"/>
              <a:t>10/13/2026</a:t>
            </a:fld>
            <a:endParaRP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7" name="Slide Number Placeholder 6"/>
          <p:cNvSpPr>
            <a:spLocks noGrp="1"/>
          </p:cNvSpPr>
          <p:nvPr>
            <p:ph type="sldNum" sz="quarter" idx="12"/>
          </p:nvPr>
        </p:nvSpPr>
        <p:spPr/>
        <p:txBody>
          <a:bodyPr/>
          <a:lstStyle/>
          <a:p>
            <a:fld id="{A3F31473-23EB-4724-8B59-FE6D21D89FA4}" type="slidenum">
              <a:rPr/>
              <a:t>‹#›</a:t>
            </a:fld>
            <a:endParaRPr/>
          </a:p>
        </p:txBody>
      </p:sp>
    </p:spTree>
    <p:extLst>
      <p:ext uri="{BB962C8B-B14F-4D97-AF65-F5344CB8AC3E}">
        <p14:creationId xmlns:p14="http://schemas.microsoft.com/office/powerpoint/2010/main" val="2234726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8014" y="685800"/>
            <a:ext cx="3962400" cy="4724400"/>
          </a:xfrm>
        </p:spPr>
        <p:txBody>
          <a:bodyPr anchor="b">
            <a:normAutofit/>
          </a:bodyPr>
          <a:lstStyle>
            <a:lvl1pPr algn="l">
              <a:defRPr sz="36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4875213" y="685800"/>
            <a:ext cx="6705600" cy="5486400"/>
          </a:xfrm>
          <a:ln w="63500">
            <a:solidFill>
              <a:schemeClr val="bg1"/>
            </a:solidFill>
            <a:miter lim="800000"/>
          </a:ln>
        </p:spPr>
        <p:txBody>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608013" y="5410200"/>
            <a:ext cx="3962400" cy="762000"/>
          </a:xfrm>
        </p:spPr>
        <p:txBody>
          <a:bodyPr>
            <a:normAutofit/>
          </a:bodyPr>
          <a:lstStyle>
            <a:lvl1pPr marL="0" indent="0">
              <a:spcBef>
                <a:spcPts val="0"/>
              </a:spcBef>
              <a:buNone/>
              <a:defRPr sz="20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C93FC7-9D1A-468B-98DB-D1E8D74418D9}" type="datetimeFigureOut">
              <a:rPr lang="en-US"/>
              <a:t>10/13/2026</a:t>
            </a:fld>
            <a:endParaRP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7" name="Slide Number Placeholder 6"/>
          <p:cNvSpPr>
            <a:spLocks noGrp="1"/>
          </p:cNvSpPr>
          <p:nvPr>
            <p:ph type="sldNum" sz="quarter" idx="12"/>
          </p:nvPr>
        </p:nvSpPr>
        <p:spPr/>
        <p:txBody>
          <a:bodyPr/>
          <a:lstStyle/>
          <a:p>
            <a:fld id="{A3F31473-23EB-4724-8B59-FE6D21D89FA4}" type="slidenum">
              <a:rPr/>
              <a:t>‹#›</a:t>
            </a:fld>
            <a:endParaRPr/>
          </a:p>
        </p:txBody>
      </p:sp>
    </p:spTree>
    <p:extLst>
      <p:ext uri="{BB962C8B-B14F-4D97-AF65-F5344CB8AC3E}">
        <p14:creationId xmlns:p14="http://schemas.microsoft.com/office/powerpoint/2010/main" val="3352041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81C93FC7-9D1A-468B-98DB-D1E8D74418D9}" type="datetimeFigureOut">
              <a:rPr lang="en-US"/>
              <a:t>10/13/2026</a:t>
            </a:fld>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6" name="Slide Number Placeholder 5"/>
          <p:cNvSpPr>
            <a:spLocks noGrp="1"/>
          </p:cNvSpPr>
          <p:nvPr>
            <p:ph type="sldNum" sz="quarter" idx="12"/>
          </p:nvPr>
        </p:nvSpPr>
        <p:spPr/>
        <p:txBody>
          <a:bodyPr/>
          <a:lstStyle/>
          <a:p>
            <a:fld id="{A3F31473-23EB-4724-8B59-FE6D21D89FA4}" type="slidenum">
              <a:rPr/>
              <a:t>‹#›</a:t>
            </a:fld>
            <a:endParaRPr/>
          </a:p>
        </p:txBody>
      </p:sp>
    </p:spTree>
    <p:extLst>
      <p:ext uri="{BB962C8B-B14F-4D97-AF65-F5344CB8AC3E}">
        <p14:creationId xmlns:p14="http://schemas.microsoft.com/office/powerpoint/2010/main" val="2176294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2" y="685800"/>
            <a:ext cx="1295401" cy="54864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608012" y="685800"/>
            <a:ext cx="9474253" cy="5486400"/>
          </a:xfrm>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81C93FC7-9D1A-468B-98DB-D1E8D74418D9}" type="datetimeFigureOut">
              <a:rPr lang="en-US"/>
              <a:t>10/13/2026</a:t>
            </a:fld>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6" name="Slide Number Placeholder 5"/>
          <p:cNvSpPr>
            <a:spLocks noGrp="1"/>
          </p:cNvSpPr>
          <p:nvPr>
            <p:ph type="sldNum" sz="quarter" idx="12"/>
          </p:nvPr>
        </p:nvSpPr>
        <p:spPr/>
        <p:txBody>
          <a:bodyPr/>
          <a:lstStyle/>
          <a:p>
            <a:fld id="{A3F31473-23EB-4724-8B59-FE6D21D89FA4}" type="slidenum">
              <a:rPr/>
              <a:t>‹#›</a:t>
            </a:fld>
            <a:endParaRPr/>
          </a:p>
        </p:txBody>
      </p:sp>
    </p:spTree>
    <p:extLst>
      <p:ext uri="{BB962C8B-B14F-4D97-AF65-F5344CB8AC3E}">
        <p14:creationId xmlns:p14="http://schemas.microsoft.com/office/powerpoint/2010/main" val="3850052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5105400"/>
            <a:ext cx="10971372" cy="10668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293813" y="685800"/>
            <a:ext cx="10287000" cy="41909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09441" y="6356351"/>
            <a:ext cx="2844059" cy="365125"/>
          </a:xfrm>
          <a:prstGeom prst="rect">
            <a:avLst/>
          </a:prstGeom>
        </p:spPr>
        <p:txBody>
          <a:bodyPr vert="horz" lIns="91440" tIns="45720" rIns="91440" bIns="45720" rtlCol="0" anchor="ctr"/>
          <a:lstStyle>
            <a:lvl1pPr algn="l">
              <a:defRPr sz="1200">
                <a:solidFill>
                  <a:schemeClr val="tx2">
                    <a:lumMod val="65000"/>
                    <a:lumOff val="35000"/>
                  </a:schemeClr>
                </a:solidFill>
              </a:defRPr>
            </a:lvl1pPr>
          </a:lstStyle>
          <a:p>
            <a:fld id="{81C93FC7-9D1A-468B-98DB-D1E8D74418D9}" type="datetimeFigureOut">
              <a:rPr lang="en-US" smtClean="0"/>
              <a:pPr/>
              <a:t>10/13/2026</a:t>
            </a:fld>
            <a:endParaRPr lang="en-US" dirty="0"/>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91440" tIns="45720" rIns="91440" bIns="45720" rtlCol="0" anchor="ctr"/>
          <a:lstStyle>
            <a:lvl1pPr algn="ctr">
              <a:defRPr sz="1200">
                <a:solidFill>
                  <a:schemeClr val="tx2">
                    <a:lumMod val="65000"/>
                    <a:lumOff val="35000"/>
                  </a:schemeClr>
                </a:solidFill>
              </a:defRPr>
            </a:lvl1pPr>
          </a:lstStyle>
          <a:p>
            <a:r>
              <a:rPr lang="en-US" dirty="0"/>
              <a:t>Add a footer</a:t>
            </a:r>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91440" tIns="45720" rIns="91440" bIns="45720" rtlCol="0" anchor="ctr"/>
          <a:lstStyle>
            <a:lvl1pPr algn="r">
              <a:defRPr sz="1200">
                <a:solidFill>
                  <a:schemeClr val="tx2">
                    <a:lumMod val="65000"/>
                    <a:lumOff val="35000"/>
                  </a:schemeClr>
                </a:solidFill>
              </a:defRPr>
            </a:lvl1pPr>
          </a:lstStyle>
          <a:p>
            <a:fld id="{A3F31473-23EB-4724-8B59-FE6D21D89FA4}" type="slidenum">
              <a:rPr lang="en-US" smtClean="0"/>
              <a:pPr/>
              <a:t>‹#›</a:t>
            </a:fld>
            <a:endParaRPr lang="en-US"/>
          </a:p>
        </p:txBody>
      </p:sp>
    </p:spTree>
    <p:extLst>
      <p:ext uri="{BB962C8B-B14F-4D97-AF65-F5344CB8AC3E}">
        <p14:creationId xmlns:p14="http://schemas.microsoft.com/office/powerpoint/2010/main" val="344928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8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tx1"/>
        </a:buClr>
        <a:buSzPct val="80000"/>
        <a:buFont typeface="Arial" pitchFamily="34" charset="0"/>
        <a:buChar char="•"/>
        <a:defRPr sz="2800" kern="1200">
          <a:solidFill>
            <a:schemeClr val="tx1"/>
          </a:solidFill>
          <a:latin typeface="+mn-lt"/>
          <a:ea typeface="+mn-ea"/>
          <a:cs typeface="+mn-cs"/>
        </a:defRPr>
      </a:lvl1pPr>
      <a:lvl2pPr marL="615950" indent="-285750" algn="l" defTabSz="914400" rtl="0" eaLnBrk="1" latinLnBrk="0" hangingPunct="1">
        <a:lnSpc>
          <a:spcPct val="90000"/>
        </a:lnSpc>
        <a:spcBef>
          <a:spcPts val="600"/>
        </a:spcBef>
        <a:buSzPct val="80000"/>
        <a:buFont typeface="Corbel" pitchFamily="34" charset="0"/>
        <a:buChar char="–"/>
        <a:defRPr sz="2400" kern="1200">
          <a:solidFill>
            <a:schemeClr val="tx1"/>
          </a:solidFill>
          <a:latin typeface="+mn-lt"/>
          <a:ea typeface="+mn-ea"/>
          <a:cs typeface="+mn-cs"/>
        </a:defRPr>
      </a:lvl2pPr>
      <a:lvl3pPr marL="996696" indent="-228600" algn="l" defTabSz="914400" rtl="0" eaLnBrk="1" latinLnBrk="0" hangingPunct="1">
        <a:lnSpc>
          <a:spcPct val="90000"/>
        </a:lnSpc>
        <a:spcBef>
          <a:spcPts val="600"/>
        </a:spcBef>
        <a:buClr>
          <a:schemeClr val="tx1"/>
        </a:buClr>
        <a:buSzPct val="80000"/>
        <a:buFont typeface="Arial" pitchFamily="34" charset="0"/>
        <a:buChar char="•"/>
        <a:defRPr sz="2000" kern="1200">
          <a:solidFill>
            <a:schemeClr val="tx1"/>
          </a:solidFill>
          <a:latin typeface="+mn-lt"/>
          <a:ea typeface="+mn-ea"/>
          <a:cs typeface="+mn-cs"/>
        </a:defRPr>
      </a:lvl3pPr>
      <a:lvl4pPr marL="1380744" indent="-283464" algn="l" defTabSz="914400" rtl="0" eaLnBrk="1" latinLnBrk="0" hangingPunct="1">
        <a:lnSpc>
          <a:spcPct val="90000"/>
        </a:lnSpc>
        <a:spcBef>
          <a:spcPts val="600"/>
        </a:spcBef>
        <a:buFont typeface="Corbel" pitchFamily="34" charset="0"/>
        <a:buChar char="–"/>
        <a:defRPr sz="1800" kern="1200">
          <a:solidFill>
            <a:schemeClr val="tx1"/>
          </a:solidFill>
          <a:latin typeface="+mn-lt"/>
          <a:ea typeface="+mn-ea"/>
          <a:cs typeface="+mn-cs"/>
        </a:defRPr>
      </a:lvl4pPr>
      <a:lvl5pPr marL="1764792" indent="-228600" algn="l" defTabSz="914400" rtl="0" eaLnBrk="1" latinLnBrk="0" hangingPunct="1">
        <a:lnSpc>
          <a:spcPct val="90000"/>
        </a:lnSpc>
        <a:spcBef>
          <a:spcPts val="600"/>
        </a:spcBef>
        <a:buClr>
          <a:schemeClr val="tx1"/>
        </a:buClr>
        <a:buSzPct val="80000"/>
        <a:buFont typeface="Arial" pitchFamily="34" charset="0"/>
        <a:buChar char="•"/>
        <a:defRPr sz="1800"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4.png"/><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i="1" dirty="0">
                <a:latin typeface="Arial" panose="020B0604020202020204" pitchFamily="34" charset="0"/>
                <a:cs typeface="Arial" panose="020B0604020202020204" pitchFamily="34" charset="0"/>
              </a:rPr>
              <a:t>Bank Loan Analysis</a:t>
            </a:r>
          </a:p>
        </p:txBody>
      </p:sp>
      <p:sp>
        <p:nvSpPr>
          <p:cNvPr id="3" name="Subtitle 2"/>
          <p:cNvSpPr>
            <a:spLocks noGrp="1"/>
          </p:cNvSpPr>
          <p:nvPr>
            <p:ph type="subTitle" idx="1"/>
          </p:nvPr>
        </p:nvSpPr>
        <p:spPr/>
        <p:txBody>
          <a:bodyPr>
            <a:normAutofit/>
          </a:bodyPr>
          <a:lstStyle/>
          <a:p>
            <a:r>
              <a:rPr lang="en-US" sz="2000" i="1" dirty="0">
                <a:latin typeface="Arial" panose="020B0604020202020204" pitchFamily="34" charset="0"/>
                <a:cs typeface="Arial" panose="020B0604020202020204" pitchFamily="34" charset="0"/>
              </a:rPr>
              <a:t>Created by Datta Hadawale</a:t>
            </a:r>
          </a:p>
        </p:txBody>
      </p:sp>
      <p:pic>
        <p:nvPicPr>
          <p:cNvPr id="5" name="Picture 4">
            <a:extLst>
              <a:ext uri="{FF2B5EF4-FFF2-40B4-BE49-F238E27FC236}">
                <a16:creationId xmlns:a16="http://schemas.microsoft.com/office/drawing/2014/main" id="{41AAB3FC-5EA4-47CD-9BB0-837030A493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25493" y="5791200"/>
            <a:ext cx="1144920" cy="1056823"/>
          </a:xfrm>
          <a:prstGeom prst="rect">
            <a:avLst/>
          </a:prstGeom>
        </p:spPr>
      </p:pic>
    </p:spTree>
    <p:extLst>
      <p:ext uri="{BB962C8B-B14F-4D97-AF65-F5344CB8AC3E}">
        <p14:creationId xmlns:p14="http://schemas.microsoft.com/office/powerpoint/2010/main" val="344080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46CF1-49E7-2C63-C4D2-A5D076B888F1}"/>
              </a:ext>
            </a:extLst>
          </p:cNvPr>
          <p:cNvSpPr>
            <a:spLocks noGrp="1"/>
          </p:cNvSpPr>
          <p:nvPr>
            <p:ph type="title"/>
          </p:nvPr>
        </p:nvSpPr>
        <p:spPr>
          <a:xfrm>
            <a:off x="609441" y="404664"/>
            <a:ext cx="6205051" cy="792088"/>
          </a:xfrm>
        </p:spPr>
        <p:txBody>
          <a:bodyPr/>
          <a:lstStyle/>
          <a:p>
            <a:r>
              <a:rPr lang="en-IN" i="1" dirty="0">
                <a:latin typeface="Arial" panose="020B0604020202020204" pitchFamily="34" charset="0"/>
                <a:cs typeface="Arial" panose="020B0604020202020204" pitchFamily="34" charset="0"/>
              </a:rPr>
              <a:t>Dataset</a:t>
            </a:r>
          </a:p>
        </p:txBody>
      </p:sp>
      <p:pic>
        <p:nvPicPr>
          <p:cNvPr id="5" name="Picture 4">
            <a:extLst>
              <a:ext uri="{FF2B5EF4-FFF2-40B4-BE49-F238E27FC236}">
                <a16:creationId xmlns:a16="http://schemas.microsoft.com/office/drawing/2014/main" id="{97A4BC9B-A3B7-3825-962E-AC2B7A5FF6D9}"/>
              </a:ext>
            </a:extLst>
          </p:cNvPr>
          <p:cNvPicPr>
            <a:picLocks noChangeAspect="1"/>
          </p:cNvPicPr>
          <p:nvPr/>
        </p:nvPicPr>
        <p:blipFill>
          <a:blip r:embed="rId2"/>
          <a:stretch>
            <a:fillRect/>
          </a:stretch>
        </p:blipFill>
        <p:spPr>
          <a:xfrm>
            <a:off x="0" y="1556792"/>
            <a:ext cx="12188825" cy="4752529"/>
          </a:xfrm>
          <a:prstGeom prst="rect">
            <a:avLst/>
          </a:prstGeom>
        </p:spPr>
      </p:pic>
    </p:spTree>
    <p:extLst>
      <p:ext uri="{BB962C8B-B14F-4D97-AF65-F5344CB8AC3E}">
        <p14:creationId xmlns:p14="http://schemas.microsoft.com/office/powerpoint/2010/main" val="1101654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3965032" y="271896"/>
            <a:ext cx="2751417" cy="624324"/>
          </a:xfrm>
        </p:spPr>
        <p:txBody>
          <a:bodyPr/>
          <a:lstStyle/>
          <a:p>
            <a:r>
              <a:rPr lang="en-US" i="1" dirty="0">
                <a:latin typeface="Arial" panose="020B0604020202020204" pitchFamily="34" charset="0"/>
                <a:cs typeface="Arial" panose="020B0604020202020204" pitchFamily="34" charset="0"/>
              </a:rPr>
              <a:t>Objective</a:t>
            </a:r>
          </a:p>
        </p:txBody>
      </p:sp>
      <p:sp>
        <p:nvSpPr>
          <p:cNvPr id="14" name="Content Placeholder 13"/>
          <p:cNvSpPr>
            <a:spLocks noGrp="1"/>
          </p:cNvSpPr>
          <p:nvPr>
            <p:ph idx="1"/>
          </p:nvPr>
        </p:nvSpPr>
        <p:spPr>
          <a:xfrm>
            <a:off x="1293813" y="1268760"/>
            <a:ext cx="10287000" cy="3608039"/>
          </a:xfrm>
        </p:spPr>
        <p:txBody>
          <a:bodyPr>
            <a:normAutofit/>
          </a:bodyPr>
          <a:lstStyle/>
          <a:p>
            <a:pPr lvl="0"/>
            <a:r>
              <a:rPr lang="en-IN" sz="1800" i="1" dirty="0">
                <a:latin typeface="Arial" panose="020B0604020202020204" pitchFamily="34" charset="0"/>
                <a:cs typeface="Arial" panose="020B0604020202020204" pitchFamily="34" charset="0"/>
              </a:rPr>
              <a:t>To </a:t>
            </a:r>
            <a:r>
              <a:rPr lang="en-IN" sz="1800" i="1" dirty="0" err="1">
                <a:latin typeface="Arial" panose="020B0604020202020204" pitchFamily="34" charset="0"/>
                <a:cs typeface="Arial" panose="020B0604020202020204" pitchFamily="34" charset="0"/>
              </a:rPr>
              <a:t>analyze</a:t>
            </a:r>
            <a:r>
              <a:rPr lang="en-IN" sz="1800" i="1" dirty="0">
                <a:latin typeface="Arial" panose="020B0604020202020204" pitchFamily="34" charset="0"/>
                <a:cs typeface="Arial" panose="020B0604020202020204" pitchFamily="34" charset="0"/>
              </a:rPr>
              <a:t> bank loan applications and identify monthly application trends.</a:t>
            </a:r>
          </a:p>
          <a:p>
            <a:pPr lvl="0"/>
            <a:r>
              <a:rPr lang="en-IN" sz="1800" i="1" dirty="0">
                <a:latin typeface="Arial" panose="020B0604020202020204" pitchFamily="34" charset="0"/>
                <a:cs typeface="Arial" panose="020B0604020202020204" pitchFamily="34" charset="0"/>
              </a:rPr>
              <a:t>To track total funded amounts, total amounts received, and average interest rates.</a:t>
            </a:r>
          </a:p>
          <a:p>
            <a:pPr lvl="0"/>
            <a:r>
              <a:rPr lang="en-IN" sz="1800" i="1" dirty="0">
                <a:latin typeface="Arial" panose="020B0604020202020204" pitchFamily="34" charset="0"/>
                <a:cs typeface="Arial" panose="020B0604020202020204" pitchFamily="34" charset="0"/>
              </a:rPr>
              <a:t>To evaluate good loans and bad loans to understand loan portfolio performance.</a:t>
            </a:r>
          </a:p>
          <a:p>
            <a:pPr lvl="0"/>
            <a:r>
              <a:rPr lang="en-IN" sz="1800" i="1" dirty="0">
                <a:latin typeface="Arial" panose="020B0604020202020204" pitchFamily="34" charset="0"/>
                <a:cs typeface="Arial" panose="020B0604020202020204" pitchFamily="34" charset="0"/>
              </a:rPr>
              <a:t>To </a:t>
            </a:r>
            <a:r>
              <a:rPr lang="en-IN" sz="1800" i="1" dirty="0" err="1">
                <a:latin typeface="Arial" panose="020B0604020202020204" pitchFamily="34" charset="0"/>
                <a:cs typeface="Arial" panose="020B0604020202020204" pitchFamily="34" charset="0"/>
              </a:rPr>
              <a:t>analyze</a:t>
            </a:r>
            <a:r>
              <a:rPr lang="en-IN" sz="1800" i="1" dirty="0">
                <a:latin typeface="Arial" panose="020B0604020202020204" pitchFamily="34" charset="0"/>
                <a:cs typeface="Arial" panose="020B0604020202020204" pitchFamily="34" charset="0"/>
              </a:rPr>
              <a:t> loan applications based on state, loan purpose, loan grade, employment length, and home ownership.</a:t>
            </a:r>
          </a:p>
          <a:p>
            <a:pPr lvl="0"/>
            <a:r>
              <a:rPr lang="en-IN" sz="1800" i="1" dirty="0">
                <a:latin typeface="Arial" panose="020B0604020202020204" pitchFamily="34" charset="0"/>
                <a:cs typeface="Arial" panose="020B0604020202020204" pitchFamily="34" charset="0"/>
              </a:rPr>
              <a:t>To monitor borrowers’ debt-to-income (DTI) ratios and assess potential credit risk.</a:t>
            </a:r>
          </a:p>
          <a:p>
            <a:pPr lvl="0"/>
            <a:r>
              <a:rPr lang="en-IN" sz="1800" i="1" dirty="0">
                <a:latin typeface="Arial" panose="020B0604020202020204" pitchFamily="34" charset="0"/>
                <a:cs typeface="Arial" panose="020B0604020202020204" pitchFamily="34" charset="0"/>
              </a:rPr>
              <a:t>To develop an interactive Power BI dashboard for effective data visualization and data-driven decision-making.</a:t>
            </a:r>
          </a:p>
          <a:p>
            <a:pPr marL="0" indent="0">
              <a:buNone/>
            </a:pPr>
            <a:endParaRPr lang="en-US" sz="1800" i="1"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ACA7C034-E871-8B77-59BA-79C2E4754D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18948" y="5949280"/>
            <a:ext cx="989049" cy="694120"/>
          </a:xfrm>
          <a:prstGeom prst="rect">
            <a:avLst/>
          </a:prstGeom>
        </p:spPr>
      </p:pic>
    </p:spTree>
    <p:extLst>
      <p:ext uri="{BB962C8B-B14F-4D97-AF65-F5344CB8AC3E}">
        <p14:creationId xmlns:p14="http://schemas.microsoft.com/office/powerpoint/2010/main" val="1126723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latin typeface="Arial" panose="020B0604020202020204" pitchFamily="34" charset="0"/>
                <a:cs typeface="Arial" panose="020B0604020202020204" pitchFamily="34" charset="0"/>
              </a:rPr>
              <a:t>Good vs Bad Loan</a:t>
            </a:r>
          </a:p>
        </p:txBody>
      </p:sp>
      <p:graphicFrame>
        <p:nvGraphicFramePr>
          <p:cNvPr id="7" name="Content Placeholder 6" descr="Clustered column chart representing&#10;2 series and 1 line combination chart for 4 categories"/>
          <p:cNvGraphicFramePr>
            <a:graphicFrameLocks noGrp="1"/>
          </p:cNvGraphicFramePr>
          <p:nvPr>
            <p:ph idx="1"/>
            <p:extLst>
              <p:ext uri="{D42A27DB-BD31-4B8C-83A1-F6EECF244321}">
                <p14:modId xmlns:p14="http://schemas.microsoft.com/office/powerpoint/2010/main" val="472513886"/>
              </p:ext>
            </p:extLst>
          </p:nvPr>
        </p:nvGraphicFramePr>
        <p:xfrm>
          <a:off x="1293813" y="685800"/>
          <a:ext cx="10287000" cy="4191000"/>
        </p:xfrm>
        <a:graphic>
          <a:graphicData uri="http://schemas.openxmlformats.org/drawingml/2006/chart">
            <c:chart xmlns:c="http://schemas.openxmlformats.org/drawingml/2006/chart" xmlns:r="http://schemas.openxmlformats.org/officeDocument/2006/relationships" r:id="rId2"/>
          </a:graphicData>
        </a:graphic>
      </p:graphicFrame>
      <p:pic>
        <p:nvPicPr>
          <p:cNvPr id="4" name="Picture 3">
            <a:extLst>
              <a:ext uri="{FF2B5EF4-FFF2-40B4-BE49-F238E27FC236}">
                <a16:creationId xmlns:a16="http://schemas.microsoft.com/office/drawing/2014/main" id="{4A7885D3-C74A-78D7-00A3-A0BA65EC8BB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18948" y="5949280"/>
            <a:ext cx="989049" cy="694120"/>
          </a:xfrm>
          <a:prstGeom prst="rect">
            <a:avLst/>
          </a:prstGeom>
        </p:spPr>
      </p:pic>
    </p:spTree>
    <p:extLst>
      <p:ext uri="{BB962C8B-B14F-4D97-AF65-F5344CB8AC3E}">
        <p14:creationId xmlns:p14="http://schemas.microsoft.com/office/powerpoint/2010/main" val="2655166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i="1" dirty="0">
                <a:latin typeface="Arial" panose="020B0604020202020204" pitchFamily="34" charset="0"/>
                <a:cs typeface="Arial" panose="020B0604020202020204" pitchFamily="34" charset="0"/>
              </a:rPr>
              <a:t>Loan Performance Comparison</a:t>
            </a:r>
            <a:endParaRPr lang="en-US" i="1" dirty="0">
              <a:latin typeface="Arial" panose="020B0604020202020204" pitchFamily="34" charset="0"/>
              <a:cs typeface="Arial" panose="020B0604020202020204" pitchFamily="34" charset="0"/>
            </a:endParaRPr>
          </a:p>
        </p:txBody>
      </p:sp>
      <p:sp>
        <p:nvSpPr>
          <p:cNvPr id="5" name="Content Placeholder 4"/>
          <p:cNvSpPr>
            <a:spLocks noGrp="1"/>
          </p:cNvSpPr>
          <p:nvPr>
            <p:ph sz="half" idx="1"/>
          </p:nvPr>
        </p:nvSpPr>
        <p:spPr/>
        <p:txBody>
          <a:bodyPr>
            <a:normAutofit/>
          </a:bodyPr>
          <a:lstStyle/>
          <a:p>
            <a:r>
              <a:rPr lang="en-IN" sz="2000" i="1" dirty="0">
                <a:latin typeface="Arial" panose="020B0604020202020204" pitchFamily="34" charset="0"/>
                <a:cs typeface="Arial" panose="020B0604020202020204" pitchFamily="34" charset="0"/>
              </a:rPr>
              <a:t>• </a:t>
            </a:r>
            <a:r>
              <a:rPr lang="en-IN" sz="2000" i="1" dirty="0" err="1">
                <a:latin typeface="Arial" panose="020B0604020202020204" pitchFamily="34" charset="0"/>
                <a:cs typeface="Arial" panose="020B0604020202020204" pitchFamily="34" charset="0"/>
              </a:rPr>
              <a:t>Analyze</a:t>
            </a:r>
            <a:r>
              <a:rPr lang="en-IN" sz="2000" i="1" dirty="0">
                <a:latin typeface="Arial" panose="020B0604020202020204" pitchFamily="34" charset="0"/>
                <a:cs typeface="Arial" panose="020B0604020202020204" pitchFamily="34" charset="0"/>
              </a:rPr>
              <a:t> loan applications, funded amounts, and repayments.</a:t>
            </a:r>
          </a:p>
          <a:p>
            <a:r>
              <a:rPr lang="en-IN" sz="2000" i="1" dirty="0">
                <a:latin typeface="Arial" panose="020B0604020202020204" pitchFamily="34" charset="0"/>
                <a:cs typeface="Arial" panose="020B0604020202020204" pitchFamily="34" charset="0"/>
              </a:rPr>
              <a:t>• Identify good loans and bad loans to evaluate loan performance.</a:t>
            </a:r>
          </a:p>
          <a:p>
            <a:r>
              <a:rPr lang="en-IN" sz="2000" i="1" dirty="0">
                <a:latin typeface="Arial" panose="020B0604020202020204" pitchFamily="34" charset="0"/>
                <a:cs typeface="Arial" panose="020B0604020202020204" pitchFamily="34" charset="0"/>
              </a:rPr>
              <a:t>• </a:t>
            </a:r>
            <a:r>
              <a:rPr lang="en-IN" sz="2000" i="1" dirty="0" err="1">
                <a:latin typeface="Arial" panose="020B0604020202020204" pitchFamily="34" charset="0"/>
                <a:cs typeface="Arial" panose="020B0604020202020204" pitchFamily="34" charset="0"/>
              </a:rPr>
              <a:t>Analyze</a:t>
            </a:r>
            <a:r>
              <a:rPr lang="en-IN" sz="2000" i="1" dirty="0">
                <a:latin typeface="Arial" panose="020B0604020202020204" pitchFamily="34" charset="0"/>
                <a:cs typeface="Arial" panose="020B0604020202020204" pitchFamily="34" charset="0"/>
              </a:rPr>
              <a:t> loan data by state, purpose, loan grade, and borrower profile.</a:t>
            </a:r>
          </a:p>
        </p:txBody>
      </p:sp>
      <p:graphicFrame>
        <p:nvGraphicFramePr>
          <p:cNvPr id="6" name="Content Placeholder 5"/>
          <p:cNvGraphicFramePr>
            <a:graphicFrameLocks noGrp="1"/>
          </p:cNvGraphicFramePr>
          <p:nvPr>
            <p:ph sz="half" idx="2"/>
            <p:extLst>
              <p:ext uri="{D42A27DB-BD31-4B8C-83A1-F6EECF244321}">
                <p14:modId xmlns:p14="http://schemas.microsoft.com/office/powerpoint/2010/main" val="1120307068"/>
              </p:ext>
            </p:extLst>
          </p:nvPr>
        </p:nvGraphicFramePr>
        <p:xfrm>
          <a:off x="6551613" y="685800"/>
          <a:ext cx="5029200" cy="235458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tblGrid>
              <a:tr h="476250">
                <a:tc>
                  <a:txBody>
                    <a:bodyPr/>
                    <a:lstStyle/>
                    <a:p>
                      <a:r>
                        <a:rPr lang="en-US" sz="2000" i="1" dirty="0">
                          <a:latin typeface="Arial" panose="020B0604020202020204" pitchFamily="34" charset="0"/>
                          <a:cs typeface="Arial" panose="020B0604020202020204" pitchFamily="34" charset="0"/>
                        </a:rPr>
                        <a:t>Class</a:t>
                      </a:r>
                    </a:p>
                  </a:txBody>
                  <a:tcPr anchor="ctr"/>
                </a:tc>
                <a:tc>
                  <a:txBody>
                    <a:bodyPr/>
                    <a:lstStyle/>
                    <a:p>
                      <a:pPr algn="ctr"/>
                      <a:r>
                        <a:rPr lang="en-US" sz="2000" i="1" dirty="0">
                          <a:latin typeface="Arial" panose="020B0604020202020204" pitchFamily="34" charset="0"/>
                          <a:cs typeface="Arial" panose="020B0604020202020204" pitchFamily="34" charset="0"/>
                        </a:rPr>
                        <a:t>Good Loan</a:t>
                      </a:r>
                    </a:p>
                  </a:txBody>
                  <a:tcPr anchor="ctr"/>
                </a:tc>
                <a:tc>
                  <a:txBody>
                    <a:bodyPr/>
                    <a:lstStyle/>
                    <a:p>
                      <a:pPr algn="ctr"/>
                      <a:r>
                        <a:rPr lang="en-US" sz="2000" i="1" dirty="0">
                          <a:latin typeface="Arial" panose="020B0604020202020204" pitchFamily="34" charset="0"/>
                          <a:cs typeface="Arial" panose="020B0604020202020204" pitchFamily="34" charset="0"/>
                        </a:rPr>
                        <a:t>Bad Loan</a:t>
                      </a:r>
                    </a:p>
                  </a:txBody>
                  <a:tcPr anchor="ctr"/>
                </a:tc>
                <a:extLst>
                  <a:ext uri="{0D108BD9-81ED-4DB2-BD59-A6C34878D82A}">
                    <a16:rowId xmlns:a16="http://schemas.microsoft.com/office/drawing/2014/main" val="10000"/>
                  </a:ext>
                </a:extLst>
              </a:tr>
              <a:tr h="476250">
                <a:tc>
                  <a:txBody>
                    <a:bodyPr/>
                    <a:lstStyle/>
                    <a:p>
                      <a:r>
                        <a:rPr lang="en-IN" sz="2000" i="1" dirty="0">
                          <a:latin typeface="Arial" panose="020B0604020202020204" pitchFamily="34" charset="0"/>
                          <a:cs typeface="Arial" panose="020B0604020202020204" pitchFamily="34" charset="0"/>
                        </a:rPr>
                        <a:t>Loan Applications</a:t>
                      </a:r>
                      <a:endParaRPr lang="en-US" sz="2000" i="1" dirty="0">
                        <a:latin typeface="Arial" panose="020B0604020202020204" pitchFamily="34" charset="0"/>
                        <a:cs typeface="Arial" panose="020B0604020202020204" pitchFamily="34" charset="0"/>
                      </a:endParaRPr>
                    </a:p>
                  </a:txBody>
                  <a:tcPr anchor="ctr"/>
                </a:tc>
                <a:tc>
                  <a:txBody>
                    <a:bodyPr/>
                    <a:lstStyle/>
                    <a:p>
                      <a:pPr algn="ctr"/>
                      <a:r>
                        <a:rPr lang="en-IN" sz="2000" i="1" dirty="0">
                          <a:latin typeface="Arial" panose="020B0604020202020204" pitchFamily="34" charset="0"/>
                          <a:cs typeface="Arial" panose="020B0604020202020204" pitchFamily="34" charset="0"/>
                        </a:rPr>
                        <a:t>95.2%</a:t>
                      </a:r>
                      <a:endParaRPr lang="en-US" sz="2000" i="1" dirty="0">
                        <a:latin typeface="Arial" panose="020B0604020202020204" pitchFamily="34" charset="0"/>
                        <a:cs typeface="Arial" panose="020B0604020202020204" pitchFamily="34" charset="0"/>
                      </a:endParaRPr>
                    </a:p>
                  </a:txBody>
                  <a:tcPr anchor="ctr"/>
                </a:tc>
                <a:tc>
                  <a:txBody>
                    <a:bodyPr/>
                    <a:lstStyle/>
                    <a:p>
                      <a:pPr algn="ctr"/>
                      <a:r>
                        <a:rPr lang="en-IN" sz="2000" i="1" dirty="0">
                          <a:latin typeface="Arial" panose="020B0604020202020204" pitchFamily="34" charset="0"/>
                          <a:cs typeface="Arial" panose="020B0604020202020204" pitchFamily="34" charset="0"/>
                        </a:rPr>
                        <a:t>4.8%</a:t>
                      </a:r>
                      <a:endParaRPr lang="en-US" sz="2000" i="1"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0001"/>
                  </a:ext>
                </a:extLst>
              </a:tr>
              <a:tr h="476250">
                <a:tc>
                  <a:txBody>
                    <a:bodyPr/>
                    <a:lstStyle/>
                    <a:p>
                      <a:r>
                        <a:rPr lang="en-IN" sz="2000" i="1" dirty="0">
                          <a:latin typeface="Arial" panose="020B0604020202020204" pitchFamily="34" charset="0"/>
                          <a:cs typeface="Arial" panose="020B0604020202020204" pitchFamily="34" charset="0"/>
                        </a:rPr>
                        <a:t>Loan Performance</a:t>
                      </a:r>
                      <a:endParaRPr lang="en-US" sz="2000" i="1" dirty="0">
                        <a:latin typeface="Arial" panose="020B0604020202020204" pitchFamily="34" charset="0"/>
                        <a:cs typeface="Arial" panose="020B0604020202020204" pitchFamily="34" charset="0"/>
                      </a:endParaRPr>
                    </a:p>
                  </a:txBody>
                  <a:tcPr anchor="ctr"/>
                </a:tc>
                <a:tc>
                  <a:txBody>
                    <a:bodyPr/>
                    <a:lstStyle/>
                    <a:p>
                      <a:pPr algn="ctr"/>
                      <a:r>
                        <a:rPr lang="en-IN" sz="2000" i="1" dirty="0">
                          <a:latin typeface="Arial" panose="020B0604020202020204" pitchFamily="34" charset="0"/>
                          <a:cs typeface="Arial" panose="020B0604020202020204" pitchFamily="34" charset="0"/>
                        </a:rPr>
                        <a:t>Performing loans</a:t>
                      </a:r>
                      <a:endParaRPr lang="en-US" sz="2000" i="1" dirty="0">
                        <a:latin typeface="Arial" panose="020B0604020202020204" pitchFamily="34" charset="0"/>
                        <a:cs typeface="Arial" panose="020B0604020202020204" pitchFamily="34" charset="0"/>
                      </a:endParaRPr>
                    </a:p>
                  </a:txBody>
                  <a:tcPr anchor="ctr"/>
                </a:tc>
                <a:tc>
                  <a:txBody>
                    <a:bodyPr/>
                    <a:lstStyle/>
                    <a:p>
                      <a:pPr algn="ctr"/>
                      <a:r>
                        <a:rPr lang="en-IN" sz="2000" i="1" dirty="0">
                          <a:latin typeface="Arial" panose="020B0604020202020204" pitchFamily="34" charset="0"/>
                          <a:cs typeface="Arial" panose="020B0604020202020204" pitchFamily="34" charset="0"/>
                        </a:rPr>
                        <a:t>Charged-off loans</a:t>
                      </a:r>
                      <a:endParaRPr lang="en-US" sz="2000" i="1"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0002"/>
                  </a:ext>
                </a:extLst>
              </a:tr>
              <a:tr h="476250">
                <a:tc>
                  <a:txBody>
                    <a:bodyPr/>
                    <a:lstStyle/>
                    <a:p>
                      <a:r>
                        <a:rPr lang="en-IN" sz="2000" i="1" dirty="0">
                          <a:latin typeface="Arial" panose="020B0604020202020204" pitchFamily="34" charset="0"/>
                          <a:cs typeface="Arial" panose="020B0604020202020204" pitchFamily="34" charset="0"/>
                        </a:rPr>
                        <a:t>Risk Level</a:t>
                      </a:r>
                      <a:endParaRPr lang="en-US" sz="2000" i="1" dirty="0">
                        <a:latin typeface="Arial" panose="020B0604020202020204" pitchFamily="34" charset="0"/>
                        <a:cs typeface="Arial" panose="020B0604020202020204" pitchFamily="34" charset="0"/>
                      </a:endParaRPr>
                    </a:p>
                  </a:txBody>
                  <a:tcPr anchor="ctr"/>
                </a:tc>
                <a:tc>
                  <a:txBody>
                    <a:bodyPr/>
                    <a:lstStyle/>
                    <a:p>
                      <a:pPr algn="ctr"/>
                      <a:r>
                        <a:rPr lang="en-IN" sz="2000" i="1" dirty="0">
                          <a:latin typeface="Arial" panose="020B0604020202020204" pitchFamily="34" charset="0"/>
                          <a:cs typeface="Arial" panose="020B0604020202020204" pitchFamily="34" charset="0"/>
                        </a:rPr>
                        <a:t>Lower risk</a:t>
                      </a:r>
                      <a:endParaRPr lang="en-US" sz="2000" i="1" dirty="0">
                        <a:latin typeface="Arial" panose="020B0604020202020204" pitchFamily="34" charset="0"/>
                        <a:cs typeface="Arial" panose="020B0604020202020204" pitchFamily="34" charset="0"/>
                      </a:endParaRPr>
                    </a:p>
                  </a:txBody>
                  <a:tcPr anchor="ctr"/>
                </a:tc>
                <a:tc>
                  <a:txBody>
                    <a:bodyPr/>
                    <a:lstStyle/>
                    <a:p>
                      <a:pPr algn="ctr"/>
                      <a:r>
                        <a:rPr lang="en-IN" sz="2000" i="1" dirty="0">
                          <a:latin typeface="Arial" panose="020B0604020202020204" pitchFamily="34" charset="0"/>
                          <a:cs typeface="Arial" panose="020B0604020202020204" pitchFamily="34" charset="0"/>
                        </a:rPr>
                        <a:t>Higher risk</a:t>
                      </a:r>
                      <a:endParaRPr lang="en-US" sz="2000" i="1"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0003"/>
                  </a:ext>
                </a:extLst>
              </a:tr>
            </a:tbl>
          </a:graphicData>
        </a:graphic>
      </p:graphicFrame>
      <p:pic>
        <p:nvPicPr>
          <p:cNvPr id="4" name="Picture 3">
            <a:extLst>
              <a:ext uri="{FF2B5EF4-FFF2-40B4-BE49-F238E27FC236}">
                <a16:creationId xmlns:a16="http://schemas.microsoft.com/office/drawing/2014/main" id="{A0C92307-29AF-32B5-2393-767AA43D61A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18948" y="5949280"/>
            <a:ext cx="989049" cy="694120"/>
          </a:xfrm>
          <a:prstGeom prst="rect">
            <a:avLst/>
          </a:prstGeom>
        </p:spPr>
      </p:pic>
    </p:spTree>
    <p:extLst>
      <p:ext uri="{BB962C8B-B14F-4D97-AF65-F5344CB8AC3E}">
        <p14:creationId xmlns:p14="http://schemas.microsoft.com/office/powerpoint/2010/main" val="981825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i="1" dirty="0">
                <a:latin typeface="Arial" panose="020B0604020202020204" pitchFamily="34" charset="0"/>
                <a:cs typeface="Arial" panose="020B0604020202020204" pitchFamily="34" charset="0"/>
              </a:rPr>
              <a:t>Overviews</a:t>
            </a:r>
          </a:p>
        </p:txBody>
      </p:sp>
      <p:graphicFrame>
        <p:nvGraphicFramePr>
          <p:cNvPr id="4" name="Content Placeholder 3" descr="Vertical Bullet List showing 3 groups arranged one below the other and bullet points are present under each group"/>
          <p:cNvGraphicFramePr>
            <a:graphicFrameLocks noGrp="1"/>
          </p:cNvGraphicFramePr>
          <p:nvPr>
            <p:ph sz="half" idx="1"/>
            <p:extLst>
              <p:ext uri="{D42A27DB-BD31-4B8C-83A1-F6EECF244321}">
                <p14:modId xmlns:p14="http://schemas.microsoft.com/office/powerpoint/2010/main" val="681667580"/>
              </p:ext>
            </p:extLst>
          </p:nvPr>
        </p:nvGraphicFramePr>
        <p:xfrm>
          <a:off x="1293813" y="685800"/>
          <a:ext cx="5029200" cy="4191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Content Placeholder 5"/>
          <p:cNvSpPr>
            <a:spLocks noGrp="1"/>
          </p:cNvSpPr>
          <p:nvPr>
            <p:ph sz="half" idx="2"/>
          </p:nvPr>
        </p:nvSpPr>
        <p:spPr/>
        <p:txBody>
          <a:bodyPr>
            <a:normAutofit/>
          </a:bodyPr>
          <a:lstStyle/>
          <a:p>
            <a:pPr lvl="0"/>
            <a:r>
              <a:rPr lang="en-IN" sz="2000" i="1" dirty="0" err="1">
                <a:latin typeface="Arial" panose="020B0604020202020204" pitchFamily="34" charset="0"/>
                <a:cs typeface="Arial" panose="020B0604020202020204" pitchFamily="34" charset="0"/>
              </a:rPr>
              <a:t>Analyze</a:t>
            </a:r>
            <a:r>
              <a:rPr lang="en-IN" sz="2000" i="1" dirty="0">
                <a:latin typeface="Arial" panose="020B0604020202020204" pitchFamily="34" charset="0"/>
                <a:cs typeface="Arial" panose="020B0604020202020204" pitchFamily="34" charset="0"/>
              </a:rPr>
              <a:t> overall bank loan performance.</a:t>
            </a:r>
          </a:p>
          <a:p>
            <a:pPr lvl="0"/>
            <a:r>
              <a:rPr lang="en-IN" sz="2000" i="1" dirty="0">
                <a:latin typeface="Arial" panose="020B0604020202020204" pitchFamily="34" charset="0"/>
                <a:cs typeface="Arial" panose="020B0604020202020204" pitchFamily="34" charset="0"/>
              </a:rPr>
              <a:t>Identify loan trends and borrower patterns.</a:t>
            </a:r>
          </a:p>
          <a:p>
            <a:pPr lvl="0"/>
            <a:r>
              <a:rPr lang="en-IN" sz="2000" i="1" dirty="0">
                <a:latin typeface="Arial" panose="020B0604020202020204" pitchFamily="34" charset="0"/>
                <a:cs typeface="Arial" panose="020B0604020202020204" pitchFamily="34" charset="0"/>
              </a:rPr>
              <a:t>Evaluate good loans, bad loans, and potential credit risks.</a:t>
            </a:r>
          </a:p>
        </p:txBody>
      </p:sp>
      <p:pic>
        <p:nvPicPr>
          <p:cNvPr id="5" name="Picture 4">
            <a:extLst>
              <a:ext uri="{FF2B5EF4-FFF2-40B4-BE49-F238E27FC236}">
                <a16:creationId xmlns:a16="http://schemas.microsoft.com/office/drawing/2014/main" id="{704DAC03-0D9C-8A6F-D4C3-80F1E98E9EF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918948" y="5949280"/>
            <a:ext cx="989049" cy="694120"/>
          </a:xfrm>
          <a:prstGeom prst="rect">
            <a:avLst/>
          </a:prstGeom>
        </p:spPr>
      </p:pic>
    </p:spTree>
    <p:extLst>
      <p:ext uri="{BB962C8B-B14F-4D97-AF65-F5344CB8AC3E}">
        <p14:creationId xmlns:p14="http://schemas.microsoft.com/office/powerpoint/2010/main" val="3488869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6DFCC72-524C-D666-4045-8FE1FBDE3106}"/>
              </a:ext>
            </a:extLst>
          </p:cNvPr>
          <p:cNvSpPr>
            <a:spLocks noGrp="1"/>
          </p:cNvSpPr>
          <p:nvPr>
            <p:ph type="body" idx="1"/>
          </p:nvPr>
        </p:nvSpPr>
        <p:spPr>
          <a:xfrm>
            <a:off x="606425" y="404664"/>
            <a:ext cx="8231187" cy="864096"/>
          </a:xfrm>
        </p:spPr>
        <p:txBody>
          <a:bodyPr/>
          <a:lstStyle/>
          <a:p>
            <a:r>
              <a:rPr lang="en-IN" dirty="0"/>
              <a:t>SQL/PostgreSQL</a:t>
            </a:r>
          </a:p>
        </p:txBody>
      </p:sp>
      <p:pic>
        <p:nvPicPr>
          <p:cNvPr id="5" name="Picture 4">
            <a:extLst>
              <a:ext uri="{FF2B5EF4-FFF2-40B4-BE49-F238E27FC236}">
                <a16:creationId xmlns:a16="http://schemas.microsoft.com/office/drawing/2014/main" id="{EF0265BE-AECB-DEC3-8483-DC5B677175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2728" y="1179657"/>
            <a:ext cx="5518349" cy="4760628"/>
          </a:xfrm>
          <a:prstGeom prst="rect">
            <a:avLst/>
          </a:prstGeom>
        </p:spPr>
      </p:pic>
      <p:pic>
        <p:nvPicPr>
          <p:cNvPr id="17" name="Picture 16">
            <a:extLst>
              <a:ext uri="{FF2B5EF4-FFF2-40B4-BE49-F238E27FC236}">
                <a16:creationId xmlns:a16="http://schemas.microsoft.com/office/drawing/2014/main" id="{CEB97892-A8A3-2DA4-E1F0-D847CA56C3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48" y="1179657"/>
            <a:ext cx="6192688" cy="4760627"/>
          </a:xfrm>
          <a:prstGeom prst="rect">
            <a:avLst/>
          </a:prstGeom>
          <a:ln>
            <a:solidFill>
              <a:srgbClr val="FFFF00"/>
            </a:solidFill>
          </a:ln>
        </p:spPr>
      </p:pic>
    </p:spTree>
    <p:extLst>
      <p:ext uri="{BB962C8B-B14F-4D97-AF65-F5344CB8AC3E}">
        <p14:creationId xmlns:p14="http://schemas.microsoft.com/office/powerpoint/2010/main" val="4193786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E9F96-CFAF-4BF5-6F06-2BC3D6AB1E65}"/>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D2C96AB0-FCC8-43D0-CA39-22E2A94E6D8F}"/>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2F83C016-9538-D39C-95BC-311EB01BD0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31599" y="1052945"/>
            <a:ext cx="5739477" cy="5119255"/>
          </a:xfrm>
          <a:prstGeom prst="rect">
            <a:avLst/>
          </a:prstGeom>
        </p:spPr>
      </p:pic>
      <p:pic>
        <p:nvPicPr>
          <p:cNvPr id="7" name="Picture 6">
            <a:extLst>
              <a:ext uri="{FF2B5EF4-FFF2-40B4-BE49-F238E27FC236}">
                <a16:creationId xmlns:a16="http://schemas.microsoft.com/office/drawing/2014/main" id="{3FD79617-F749-CC9E-81F4-BD9F97D586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48" y="1052945"/>
            <a:ext cx="5976663" cy="5119255"/>
          </a:xfrm>
          <a:prstGeom prst="rect">
            <a:avLst/>
          </a:prstGeom>
        </p:spPr>
      </p:pic>
    </p:spTree>
    <p:extLst>
      <p:ext uri="{BB962C8B-B14F-4D97-AF65-F5344CB8AC3E}">
        <p14:creationId xmlns:p14="http://schemas.microsoft.com/office/powerpoint/2010/main" val="1647698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DE5E5-62DA-AB43-1E10-CED0A387E058}"/>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B0D1D375-CCDD-4169-6117-2F8B0E964720}"/>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D5585EB8-0DCE-69C2-32EF-8CECABABE9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2444" y="939949"/>
            <a:ext cx="5688632" cy="4978100"/>
          </a:xfrm>
          <a:prstGeom prst="rect">
            <a:avLst/>
          </a:prstGeom>
        </p:spPr>
      </p:pic>
      <p:pic>
        <p:nvPicPr>
          <p:cNvPr id="7" name="Picture 6">
            <a:extLst>
              <a:ext uri="{FF2B5EF4-FFF2-40B4-BE49-F238E27FC236}">
                <a16:creationId xmlns:a16="http://schemas.microsoft.com/office/drawing/2014/main" id="{8564891C-52D4-668D-4473-F6FE2B221F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772" y="939949"/>
            <a:ext cx="5904656" cy="4978100"/>
          </a:xfrm>
          <a:prstGeom prst="rect">
            <a:avLst/>
          </a:prstGeom>
        </p:spPr>
      </p:pic>
    </p:spTree>
    <p:extLst>
      <p:ext uri="{BB962C8B-B14F-4D97-AF65-F5344CB8AC3E}">
        <p14:creationId xmlns:p14="http://schemas.microsoft.com/office/powerpoint/2010/main" val="2078865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Dashboard of the Power Bi</a:t>
            </a:r>
          </a:p>
        </p:txBody>
      </p:sp>
      <p:pic>
        <p:nvPicPr>
          <p:cNvPr id="6" name="Picture 5">
            <a:extLst>
              <a:ext uri="{FF2B5EF4-FFF2-40B4-BE49-F238E27FC236}">
                <a16:creationId xmlns:a16="http://schemas.microsoft.com/office/drawing/2014/main" id="{48A3888D-EE70-74B3-36F1-0A75D8DEEE5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18948" y="5949280"/>
            <a:ext cx="989049" cy="694120"/>
          </a:xfrm>
          <a:prstGeom prst="rect">
            <a:avLst/>
          </a:prstGeom>
        </p:spPr>
      </p:pic>
      <p:pic>
        <p:nvPicPr>
          <p:cNvPr id="8" name="Picture 7">
            <a:extLst>
              <a:ext uri="{FF2B5EF4-FFF2-40B4-BE49-F238E27FC236}">
                <a16:creationId xmlns:a16="http://schemas.microsoft.com/office/drawing/2014/main" id="{D52AAFAC-5F03-DE8A-B017-72DC75B4C0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7270" y="1052736"/>
            <a:ext cx="7731083" cy="5109126"/>
          </a:xfrm>
          <a:prstGeom prst="rect">
            <a:avLst/>
          </a:prstGeom>
        </p:spPr>
      </p:pic>
    </p:spTree>
    <p:extLst>
      <p:ext uri="{BB962C8B-B14F-4D97-AF65-F5344CB8AC3E}">
        <p14:creationId xmlns:p14="http://schemas.microsoft.com/office/powerpoint/2010/main" val="423498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39948-EA17-3D3D-AD09-63D32A5942D2}"/>
              </a:ext>
            </a:extLst>
          </p:cNvPr>
          <p:cNvSpPr>
            <a:spLocks noGrp="1"/>
          </p:cNvSpPr>
          <p:nvPr>
            <p:ph type="title"/>
          </p:nvPr>
        </p:nvSpPr>
        <p:spPr/>
        <p:txBody>
          <a:bodyPr/>
          <a:lstStyle/>
          <a:p>
            <a:r>
              <a:rPr lang="en-IN" i="1" dirty="0">
                <a:latin typeface="Arial" panose="020B0604020202020204" pitchFamily="34" charset="0"/>
                <a:cs typeface="Arial" panose="020B0604020202020204" pitchFamily="34" charset="0"/>
              </a:rPr>
              <a:t>Power BI</a:t>
            </a:r>
          </a:p>
        </p:txBody>
      </p:sp>
      <p:pic>
        <p:nvPicPr>
          <p:cNvPr id="4" name="Picture 3">
            <a:extLst>
              <a:ext uri="{FF2B5EF4-FFF2-40B4-BE49-F238E27FC236}">
                <a16:creationId xmlns:a16="http://schemas.microsoft.com/office/drawing/2014/main" id="{EFD5B08E-A013-A7D5-C350-FCFC9DC60E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46940" y="5949280"/>
            <a:ext cx="989049" cy="694120"/>
          </a:xfrm>
          <a:prstGeom prst="rect">
            <a:avLst/>
          </a:prstGeom>
        </p:spPr>
      </p:pic>
    </p:spTree>
    <p:extLst>
      <p:ext uri="{BB962C8B-B14F-4D97-AF65-F5344CB8AC3E}">
        <p14:creationId xmlns:p14="http://schemas.microsoft.com/office/powerpoint/2010/main" val="3478867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B7147F3-E811-FDCF-08D2-999CF380A0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453" y="0"/>
            <a:ext cx="11945918" cy="6858000"/>
          </a:xfrm>
          <a:prstGeom prst="rect">
            <a:avLst/>
          </a:prstGeom>
        </p:spPr>
      </p:pic>
    </p:spTree>
    <p:extLst>
      <p:ext uri="{BB962C8B-B14F-4D97-AF65-F5344CB8AC3E}">
        <p14:creationId xmlns:p14="http://schemas.microsoft.com/office/powerpoint/2010/main" val="2979636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 a Slide Title - 3</a:t>
            </a:r>
          </a:p>
        </p:txBody>
      </p:sp>
      <p:pic>
        <p:nvPicPr>
          <p:cNvPr id="4" name="Picture 3">
            <a:extLst>
              <a:ext uri="{FF2B5EF4-FFF2-40B4-BE49-F238E27FC236}">
                <a16:creationId xmlns:a16="http://schemas.microsoft.com/office/drawing/2014/main" id="{DA3C644F-BEE2-E7C3-66BA-C4F0B433AE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11" y="0"/>
            <a:ext cx="12023203" cy="6858000"/>
          </a:xfrm>
          <a:prstGeom prst="rect">
            <a:avLst/>
          </a:prstGeom>
        </p:spPr>
      </p:pic>
    </p:spTree>
    <p:extLst>
      <p:ext uri="{BB962C8B-B14F-4D97-AF65-F5344CB8AC3E}">
        <p14:creationId xmlns:p14="http://schemas.microsoft.com/office/powerpoint/2010/main" val="4244490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8CCA17-D0D5-4CE8-C3CE-047DFFF32C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95" y="0"/>
            <a:ext cx="12069034" cy="6858000"/>
          </a:xfrm>
          <a:prstGeom prst="rect">
            <a:avLst/>
          </a:prstGeom>
        </p:spPr>
      </p:pic>
    </p:spTree>
    <p:extLst>
      <p:ext uri="{BB962C8B-B14F-4D97-AF65-F5344CB8AC3E}">
        <p14:creationId xmlns:p14="http://schemas.microsoft.com/office/powerpoint/2010/main" val="627050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lvl="0"/>
            <a:r>
              <a:rPr lang="en-IN" sz="2000" b="1" i="1" dirty="0">
                <a:latin typeface="Arial" panose="020B0604020202020204" pitchFamily="34" charset="0"/>
                <a:cs typeface="Arial" panose="020B0604020202020204" pitchFamily="34" charset="0"/>
              </a:rPr>
              <a:t>Loan Quality:</a:t>
            </a:r>
            <a:r>
              <a:rPr lang="en-IN" sz="2000" i="1" dirty="0">
                <a:latin typeface="Arial" panose="020B0604020202020204" pitchFamily="34" charset="0"/>
                <a:cs typeface="Arial" panose="020B0604020202020204" pitchFamily="34" charset="0"/>
              </a:rPr>
              <a:t> The Summary dashboard shows 95.2% good loans and 4.8% bad loans under the selected filters.</a:t>
            </a:r>
          </a:p>
          <a:p>
            <a:pPr lvl="0"/>
            <a:r>
              <a:rPr lang="en-IN" sz="2000" b="1" i="1" dirty="0">
                <a:latin typeface="Arial" panose="020B0604020202020204" pitchFamily="34" charset="0"/>
                <a:cs typeface="Arial" panose="020B0604020202020204" pitchFamily="34" charset="0"/>
              </a:rPr>
              <a:t>Loan Applications:</a:t>
            </a:r>
            <a:r>
              <a:rPr lang="en-IN" sz="2000" i="1" dirty="0">
                <a:latin typeface="Arial" panose="020B0604020202020204" pitchFamily="34" charset="0"/>
                <a:cs typeface="Arial" panose="020B0604020202020204" pitchFamily="34" charset="0"/>
              </a:rPr>
              <a:t> The dashboard tracks total loan applications and helps identify monthly trends.</a:t>
            </a:r>
          </a:p>
          <a:p>
            <a:pPr lvl="0"/>
            <a:r>
              <a:rPr lang="en-IN" sz="2000" b="1" i="1" dirty="0">
                <a:latin typeface="Arial" panose="020B0604020202020204" pitchFamily="34" charset="0"/>
                <a:cs typeface="Arial" panose="020B0604020202020204" pitchFamily="34" charset="0"/>
              </a:rPr>
              <a:t>Loan Funding and Repayment:</a:t>
            </a:r>
            <a:r>
              <a:rPr lang="en-IN" sz="2000" i="1" dirty="0">
                <a:latin typeface="Arial" panose="020B0604020202020204" pitchFamily="34" charset="0"/>
                <a:cs typeface="Arial" panose="020B0604020202020204" pitchFamily="34" charset="0"/>
              </a:rPr>
              <a:t> Total funded amounts and total amounts received provide an overview of lending and repayment performance.</a:t>
            </a:r>
          </a:p>
          <a:p>
            <a:pPr lvl="0"/>
            <a:r>
              <a:rPr lang="en-IN" sz="2000" b="1" i="1" dirty="0">
                <a:latin typeface="Arial" panose="020B0604020202020204" pitchFamily="34" charset="0"/>
                <a:cs typeface="Arial" panose="020B0604020202020204" pitchFamily="34" charset="0"/>
              </a:rPr>
              <a:t>Borrower Analysis:</a:t>
            </a:r>
            <a:r>
              <a:rPr lang="en-IN" sz="2000" i="1" dirty="0">
                <a:latin typeface="Arial" panose="020B0604020202020204" pitchFamily="34" charset="0"/>
                <a:cs typeface="Arial" panose="020B0604020202020204" pitchFamily="34" charset="0"/>
              </a:rPr>
              <a:t> Loan applications can be </a:t>
            </a:r>
            <a:r>
              <a:rPr lang="en-IN" sz="2000" i="1" dirty="0" err="1">
                <a:latin typeface="Arial" panose="020B0604020202020204" pitchFamily="34" charset="0"/>
                <a:cs typeface="Arial" panose="020B0604020202020204" pitchFamily="34" charset="0"/>
              </a:rPr>
              <a:t>analyzed</a:t>
            </a:r>
            <a:r>
              <a:rPr lang="en-IN" sz="2000" i="1" dirty="0">
                <a:latin typeface="Arial" panose="020B0604020202020204" pitchFamily="34" charset="0"/>
                <a:cs typeface="Arial" panose="020B0604020202020204" pitchFamily="34" charset="0"/>
              </a:rPr>
              <a:t> by employment length, home ownership, loan purpose, and loan grade.</a:t>
            </a:r>
          </a:p>
          <a:p>
            <a:pPr lvl="0"/>
            <a:r>
              <a:rPr lang="en-IN" sz="2000" b="1" i="1" dirty="0">
                <a:latin typeface="Arial" panose="020B0604020202020204" pitchFamily="34" charset="0"/>
                <a:cs typeface="Arial" panose="020B0604020202020204" pitchFamily="34" charset="0"/>
              </a:rPr>
              <a:t>Geographical Insights:</a:t>
            </a:r>
            <a:r>
              <a:rPr lang="en-IN" sz="2000" i="1" dirty="0">
                <a:latin typeface="Arial" panose="020B0604020202020204" pitchFamily="34" charset="0"/>
                <a:cs typeface="Arial" panose="020B0604020202020204" pitchFamily="34" charset="0"/>
              </a:rPr>
              <a:t> State-wise analysis helps identify the distribution of loan applications across different regions.</a:t>
            </a:r>
          </a:p>
          <a:p>
            <a:pPr lvl="0"/>
            <a:r>
              <a:rPr lang="en-IN" sz="2000" b="1" i="1" dirty="0">
                <a:latin typeface="Arial" panose="020B0604020202020204" pitchFamily="34" charset="0"/>
                <a:cs typeface="Arial" panose="020B0604020202020204" pitchFamily="34" charset="0"/>
              </a:rPr>
              <a:t>Financial Risk Indicators:</a:t>
            </a:r>
            <a:r>
              <a:rPr lang="en-IN" sz="2000" i="1" dirty="0">
                <a:latin typeface="Arial" panose="020B0604020202020204" pitchFamily="34" charset="0"/>
                <a:cs typeface="Arial" panose="020B0604020202020204" pitchFamily="34" charset="0"/>
              </a:rPr>
              <a:t> Average interest rates and debt-to-income (DTI) ratios help evaluate borrower financial profiles.</a:t>
            </a:r>
          </a:p>
        </p:txBody>
      </p:sp>
      <p:pic>
        <p:nvPicPr>
          <p:cNvPr id="6" name="Picture 5">
            <a:extLst>
              <a:ext uri="{FF2B5EF4-FFF2-40B4-BE49-F238E27FC236}">
                <a16:creationId xmlns:a16="http://schemas.microsoft.com/office/drawing/2014/main" id="{01E790A6-3166-2BFA-754F-A5DD4461440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18948" y="5949280"/>
            <a:ext cx="989049" cy="694120"/>
          </a:xfrm>
          <a:prstGeom prst="rect">
            <a:avLst/>
          </a:prstGeom>
        </p:spPr>
      </p:pic>
      <p:sp>
        <p:nvSpPr>
          <p:cNvPr id="8" name="Title 7">
            <a:extLst>
              <a:ext uri="{FF2B5EF4-FFF2-40B4-BE49-F238E27FC236}">
                <a16:creationId xmlns:a16="http://schemas.microsoft.com/office/drawing/2014/main" id="{3D109DE3-4F4E-3975-E290-9D5B0BB74BA1}"/>
              </a:ext>
            </a:extLst>
          </p:cNvPr>
          <p:cNvSpPr>
            <a:spLocks noGrp="1"/>
          </p:cNvSpPr>
          <p:nvPr>
            <p:ph type="title"/>
          </p:nvPr>
        </p:nvSpPr>
        <p:spPr/>
        <p:txBody>
          <a:bodyPr/>
          <a:lstStyle/>
          <a:p>
            <a:r>
              <a:rPr lang="en-IN" i="1" dirty="0">
                <a:latin typeface="Arial" panose="020B0604020202020204" pitchFamily="34" charset="0"/>
                <a:cs typeface="Arial" panose="020B0604020202020204" pitchFamily="34" charset="0"/>
              </a:rPr>
              <a:t>Key Insights </a:t>
            </a:r>
          </a:p>
        </p:txBody>
      </p:sp>
    </p:spTree>
    <p:extLst>
      <p:ext uri="{BB962C8B-B14F-4D97-AF65-F5344CB8AC3E}">
        <p14:creationId xmlns:p14="http://schemas.microsoft.com/office/powerpoint/2010/main" val="933344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608014" y="4653136"/>
            <a:ext cx="3962400" cy="757064"/>
          </a:xfrm>
        </p:spPr>
        <p:txBody>
          <a:bodyPr/>
          <a:lstStyle/>
          <a:p>
            <a:r>
              <a:rPr lang="en-US" i="1" dirty="0">
                <a:latin typeface="Arial" panose="020B0604020202020204" pitchFamily="34" charset="0"/>
                <a:cs typeface="Arial" panose="020B0604020202020204" pitchFamily="34" charset="0"/>
              </a:rPr>
              <a:t>Conclusion</a:t>
            </a:r>
          </a:p>
        </p:txBody>
      </p:sp>
      <p:sp>
        <p:nvSpPr>
          <p:cNvPr id="5" name="TextBox 4">
            <a:extLst>
              <a:ext uri="{FF2B5EF4-FFF2-40B4-BE49-F238E27FC236}">
                <a16:creationId xmlns:a16="http://schemas.microsoft.com/office/drawing/2014/main" id="{EEF5D803-6605-8A78-3A0C-37911974DE18}"/>
              </a:ext>
            </a:extLst>
          </p:cNvPr>
          <p:cNvSpPr txBox="1"/>
          <p:nvPr/>
        </p:nvSpPr>
        <p:spPr>
          <a:xfrm>
            <a:off x="5230316" y="1859340"/>
            <a:ext cx="6048671" cy="4093428"/>
          </a:xfrm>
          <a:prstGeom prst="rect">
            <a:avLst/>
          </a:prstGeom>
          <a:noFill/>
        </p:spPr>
        <p:txBody>
          <a:bodyPr wrap="square">
            <a:spAutoFit/>
          </a:bodyPr>
          <a:lstStyle/>
          <a:p>
            <a:pPr>
              <a:buNone/>
            </a:pPr>
            <a:r>
              <a:rPr lang="en-IN" sz="2000" i="1" dirty="0">
                <a:latin typeface="Arial" panose="020B0604020202020204" pitchFamily="34" charset="0"/>
                <a:cs typeface="Arial" panose="020B0604020202020204" pitchFamily="34" charset="0"/>
              </a:rPr>
              <a:t>The Bank Loan Analysis Dashboard transforms raw loan data into meaningful insights using SQL/PostgreSQL and Microsoft Power BI. It provides a comprehensive analysis of loan applications, funded amounts, repayments, borrower profiles, and loan performance.</a:t>
            </a:r>
          </a:p>
          <a:p>
            <a:pPr>
              <a:buNone/>
            </a:pPr>
            <a:r>
              <a:rPr lang="en-IN" sz="2000" i="1" dirty="0">
                <a:latin typeface="Arial" panose="020B0604020202020204" pitchFamily="34" charset="0"/>
                <a:cs typeface="Arial" panose="020B0604020202020204" pitchFamily="34" charset="0"/>
              </a:rPr>
              <a:t>Through interactive dashboards, KPIs, charts, and filters, the project helps identify lending trends, compare good and bad loans, and assess potential credit risks. Overall, this project demonstrates the practical application of data analytics and visualization to support informed, data-driven financial decision-making.</a:t>
            </a:r>
          </a:p>
        </p:txBody>
      </p:sp>
      <p:pic>
        <p:nvPicPr>
          <p:cNvPr id="10" name="Picture 9">
            <a:extLst>
              <a:ext uri="{FF2B5EF4-FFF2-40B4-BE49-F238E27FC236}">
                <a16:creationId xmlns:a16="http://schemas.microsoft.com/office/drawing/2014/main" id="{6F7CD451-99DA-0556-CCBF-BD17A488331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18948" y="5949280"/>
            <a:ext cx="989049" cy="694120"/>
          </a:xfrm>
          <a:prstGeom prst="rect">
            <a:avLst/>
          </a:prstGeom>
        </p:spPr>
      </p:pic>
    </p:spTree>
    <p:extLst>
      <p:ext uri="{BB962C8B-B14F-4D97-AF65-F5344CB8AC3E}">
        <p14:creationId xmlns:p14="http://schemas.microsoft.com/office/powerpoint/2010/main" val="3914592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arketing 16x9">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flip="none" rotWithShape="1">
          <a:gsLst>
            <a:gs pos="0">
              <a:schemeClr val="phClr">
                <a:lumMod val="20000"/>
                <a:lumOff val="80000"/>
              </a:schemeClr>
            </a:gs>
            <a:gs pos="58000">
              <a:schemeClr val="phClr">
                <a:lumMod val="40000"/>
                <a:lumOff val="60000"/>
              </a:schemeClr>
            </a:gs>
            <a:gs pos="100000">
              <a:schemeClr val="phClr"/>
            </a:gs>
          </a:gsLst>
          <a:lin ang="14400000" scaled="0"/>
          <a:tileRect/>
        </a:gradFill>
        <a:gradFill flip="none" rotWithShape="1">
          <a:gsLst>
            <a:gs pos="0">
              <a:schemeClr val="phClr">
                <a:lumMod val="20000"/>
                <a:lumOff val="80000"/>
              </a:schemeClr>
            </a:gs>
            <a:gs pos="58000">
              <a:schemeClr val="phClr">
                <a:lumMod val="40000"/>
                <a:lumOff val="60000"/>
              </a:schemeClr>
            </a:gs>
            <a:gs pos="100000">
              <a:schemeClr val="phClr"/>
            </a:gs>
          </a:gsLst>
          <a:lin ang="17400000" scaled="0"/>
          <a:tileRect/>
        </a:gradFill>
      </a:bgFillStyleLst>
    </a:fmtScheme>
  </a:themeElements>
  <a:objectDefaults/>
  <a:extraClrSchemeLst/>
  <a:extLst>
    <a:ext uri="{05A4C25C-085E-4340-85A3-A5531E510DB2}">
      <thm15:themeFamily xmlns:thm15="http://schemas.microsoft.com/office/thememl/2012/main" name="Business marketing glass cube presentation (widescreen).potx" id="{454792B9-F7C6-4CDD-89A0-89451A081408}" vid="{E847D748-0CA0-4BC8-838F-3216ECA80016}"/>
    </a:ext>
  </a:extLst>
</a:theme>
</file>

<file path=ppt/theme/theme2.xml><?xml version="1.0" encoding="utf-8"?>
<a:theme xmlns:a="http://schemas.openxmlformats.org/drawingml/2006/main" name="Office Theme">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flip="none" rotWithShape="1">
          <a:gsLst>
            <a:gs pos="0">
              <a:schemeClr val="phClr">
                <a:lumMod val="20000"/>
                <a:lumOff val="80000"/>
              </a:schemeClr>
            </a:gs>
            <a:gs pos="58000">
              <a:schemeClr val="phClr">
                <a:lumMod val="40000"/>
                <a:lumOff val="60000"/>
              </a:schemeClr>
            </a:gs>
            <a:gs pos="100000">
              <a:schemeClr val="phClr"/>
            </a:gs>
          </a:gsLst>
          <a:lin ang="14400000" scaled="0"/>
          <a:tileRect/>
        </a:gradFill>
        <a:gradFill flip="none" rotWithShape="1">
          <a:gsLst>
            <a:gs pos="0">
              <a:schemeClr val="phClr">
                <a:lumMod val="20000"/>
                <a:lumOff val="80000"/>
              </a:schemeClr>
            </a:gs>
            <a:gs pos="58000">
              <a:schemeClr val="phClr">
                <a:lumMod val="40000"/>
                <a:lumOff val="60000"/>
              </a:schemeClr>
            </a:gs>
            <a:gs pos="100000">
              <a:schemeClr val="phClr"/>
            </a:gs>
          </a:gsLst>
          <a:lin ang="17400000" scaled="0"/>
          <a:tileRect/>
        </a:gradFill>
      </a:bgFillStyleLst>
    </a:fmtScheme>
  </a:themeElements>
  <a:objectDefaults/>
  <a:extraClrSchemeLst/>
</a:theme>
</file>

<file path=ppt/theme/theme3.xml><?xml version="1.0" encoding="utf-8"?>
<a:theme xmlns:a="http://schemas.openxmlformats.org/drawingml/2006/main" name="Office Theme">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flip="none" rotWithShape="1">
          <a:gsLst>
            <a:gs pos="0">
              <a:schemeClr val="phClr">
                <a:lumMod val="20000"/>
                <a:lumOff val="80000"/>
              </a:schemeClr>
            </a:gs>
            <a:gs pos="58000">
              <a:schemeClr val="phClr">
                <a:lumMod val="40000"/>
                <a:lumOff val="60000"/>
              </a:schemeClr>
            </a:gs>
            <a:gs pos="100000">
              <a:schemeClr val="phClr"/>
            </a:gs>
          </a:gsLst>
          <a:lin ang="14400000" scaled="0"/>
          <a:tileRect/>
        </a:gradFill>
        <a:gradFill flip="none" rotWithShape="1">
          <a:gsLst>
            <a:gs pos="0">
              <a:schemeClr val="phClr">
                <a:lumMod val="20000"/>
                <a:lumOff val="80000"/>
              </a:schemeClr>
            </a:gs>
            <a:gs pos="58000">
              <a:schemeClr val="phClr">
                <a:lumMod val="40000"/>
                <a:lumOff val="60000"/>
              </a:schemeClr>
            </a:gs>
            <a:gs pos="100000">
              <a:schemeClr val="phClr"/>
            </a:gs>
          </a:gsLst>
          <a:lin ang="17400000" scaled="0"/>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marketing glass cube presentation (widescreen)</Template>
  <TotalTime>89</TotalTime>
  <Words>464</Words>
  <Application>Microsoft Office PowerPoint</Application>
  <PresentationFormat>Custom</PresentationFormat>
  <Paragraphs>55</Paragraphs>
  <Slides>16</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Corbel</vt:lpstr>
      <vt:lpstr>Marketing 16x9</vt:lpstr>
      <vt:lpstr>Bank Loan Analysis</vt:lpstr>
      <vt:lpstr>Dataset</vt:lpstr>
      <vt:lpstr>Objective</vt:lpstr>
      <vt:lpstr>Good vs Bad Loan</vt:lpstr>
      <vt:lpstr>Loan Performance Comparison</vt:lpstr>
      <vt:lpstr>Overviews</vt:lpstr>
      <vt:lpstr>PowerPoint Presentation</vt:lpstr>
      <vt:lpstr>PowerPoint Presentation</vt:lpstr>
      <vt:lpstr>PowerPoint Presentation</vt:lpstr>
      <vt:lpstr>Dashboard of the Power Bi</vt:lpstr>
      <vt:lpstr>Power BI</vt:lpstr>
      <vt:lpstr>PowerPoint Presentation</vt:lpstr>
      <vt:lpstr>Add a Slide Title - 3</vt:lpstr>
      <vt:lpstr>PowerPoint Presentation</vt:lpstr>
      <vt:lpstr>Key Insights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datta Hadawale</dc:creator>
  <cp:lastModifiedBy>datta Hadawale</cp:lastModifiedBy>
  <cp:revision>1</cp:revision>
  <dcterms:created xsi:type="dcterms:W3CDTF">2026-10-13T13:47:42Z</dcterms:created>
  <dcterms:modified xsi:type="dcterms:W3CDTF">2026-10-13T15:17:18Z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